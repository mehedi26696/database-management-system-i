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5" r:id="rId1"/>
  </p:sldMasterIdLst>
  <p:notesMasterIdLst>
    <p:notesMasterId r:id="rId31"/>
  </p:notesMasterIdLst>
  <p:handoutMasterIdLst>
    <p:handoutMasterId r:id="rId32"/>
  </p:handoutMasterIdLst>
  <p:sldIdLst>
    <p:sldId id="450" r:id="rId2"/>
    <p:sldId id="275" r:id="rId3"/>
    <p:sldId id="452" r:id="rId4"/>
    <p:sldId id="415" r:id="rId5"/>
    <p:sldId id="480" r:id="rId6"/>
    <p:sldId id="497" r:id="rId7"/>
    <p:sldId id="498" r:id="rId8"/>
    <p:sldId id="499" r:id="rId9"/>
    <p:sldId id="500" r:id="rId10"/>
    <p:sldId id="465" r:id="rId11"/>
    <p:sldId id="501" r:id="rId12"/>
    <p:sldId id="466" r:id="rId13"/>
    <p:sldId id="467" r:id="rId14"/>
    <p:sldId id="468" r:id="rId15"/>
    <p:sldId id="502" r:id="rId16"/>
    <p:sldId id="477" r:id="rId17"/>
    <p:sldId id="503" r:id="rId18"/>
    <p:sldId id="469" r:id="rId19"/>
    <p:sldId id="470" r:id="rId20"/>
    <p:sldId id="471" r:id="rId21"/>
    <p:sldId id="483" r:id="rId22"/>
    <p:sldId id="484" r:id="rId23"/>
    <p:sldId id="472" r:id="rId24"/>
    <p:sldId id="473" r:id="rId25"/>
    <p:sldId id="474" r:id="rId26"/>
    <p:sldId id="475" r:id="rId27"/>
    <p:sldId id="476" r:id="rId28"/>
    <p:sldId id="504" r:id="rId29"/>
    <p:sldId id="479" r:id="rId30"/>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969696"/>
    <a:srgbClr val="800000"/>
    <a:srgbClr val="CC3300"/>
    <a:srgbClr val="CCFFFF"/>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7" d="100"/>
          <a:sy n="67" d="100"/>
        </p:scale>
        <p:origin x="-1256" y="-48"/>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_rels/viewProps.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effectLst>
                  <a:outerShdw blurRad="38100" dist="38100" dir="2700000" algn="tl">
                    <a:srgbClr val="DDDDDD"/>
                  </a:outerShdw>
                </a:effectLst>
                <a:latin typeface="Times New Roman" charset="0"/>
                <a:ea typeface="+mn-ea"/>
              </a:defRPr>
            </a:lvl1pPr>
          </a:lstStyle>
          <a:p>
            <a:pPr>
              <a:defRPr/>
            </a:pPr>
            <a:endParaRPr lang="en-US"/>
          </a:p>
        </p:txBody>
      </p:sp>
      <p:sp>
        <p:nvSpPr>
          <p:cNvPr id="180227"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effectLst>
                  <a:outerShdw blurRad="38100" dist="38100" dir="2700000" algn="tl">
                    <a:srgbClr val="DDDDDD"/>
                  </a:outerShdw>
                </a:effectLst>
                <a:latin typeface="Times New Roman" charset="0"/>
                <a:ea typeface="+mn-ea"/>
              </a:defRPr>
            </a:lvl1pPr>
          </a:lstStyle>
          <a:p>
            <a:pPr>
              <a:defRPr/>
            </a:pPr>
            <a:endParaRPr lang="en-US"/>
          </a:p>
        </p:txBody>
      </p:sp>
      <p:sp>
        <p:nvSpPr>
          <p:cNvPr id="180228"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effectLst>
                  <a:outerShdw blurRad="38100" dist="38100" dir="2700000" algn="tl">
                    <a:srgbClr val="DDDDDD"/>
                  </a:outerShdw>
                </a:effectLst>
                <a:latin typeface="Times New Roman" charset="0"/>
                <a:ea typeface="+mn-ea"/>
              </a:defRPr>
            </a:lvl1pPr>
          </a:lstStyle>
          <a:p>
            <a:pPr>
              <a:defRPr/>
            </a:pPr>
            <a:endParaRPr lang="en-US"/>
          </a:p>
        </p:txBody>
      </p:sp>
      <p:sp>
        <p:nvSpPr>
          <p:cNvPr id="180229"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effectLst>
                  <a:outerShdw blurRad="38100" dist="38100" dir="2700000" algn="tl">
                    <a:srgbClr val="C0C0C0"/>
                  </a:outerShdw>
                </a:effectLst>
                <a:latin typeface="Times New Roman" panose="02020603050405020304" pitchFamily="18" charset="0"/>
              </a:defRPr>
            </a:lvl1pPr>
          </a:lstStyle>
          <a:p>
            <a:fld id="{CE8621B6-EBCE-4B53-9099-F04D0D974E52}" type="slidenum">
              <a:rPr lang="en-US" altLang="en-US"/>
              <a:pPr/>
              <a:t>‹#›</a:t>
            </a:fld>
            <a:endParaRPr lang="en-US" altLang="en-US"/>
          </a:p>
        </p:txBody>
      </p:sp>
    </p:spTree>
    <p:extLst>
      <p:ext uri="{BB962C8B-B14F-4D97-AF65-F5344CB8AC3E}">
        <p14:creationId xmlns:p14="http://schemas.microsoft.com/office/powerpoint/2010/main" val="27249886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Times New Roman" charset="0"/>
                <a:ea typeface="+mn-ea"/>
              </a:defRPr>
            </a:lvl1pPr>
          </a:lstStyle>
          <a:p>
            <a:pPr>
              <a:defRPr/>
            </a:pPr>
            <a:endParaRPr lang="en-US"/>
          </a:p>
        </p:txBody>
      </p:sp>
      <p:sp>
        <p:nvSpPr>
          <p:cNvPr id="7171"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Times New Roman" charset="0"/>
                <a:ea typeface="+mn-ea"/>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7174"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Times New Roman" charset="0"/>
                <a:ea typeface="+mn-ea"/>
              </a:defRPr>
            </a:lvl1pPr>
          </a:lstStyle>
          <a:p>
            <a:pPr>
              <a:defRPr/>
            </a:pPr>
            <a:endParaRPr lang="en-US"/>
          </a:p>
        </p:txBody>
      </p:sp>
      <p:sp>
        <p:nvSpPr>
          <p:cNvPr id="7175"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AAADB95C-17BE-4BC2-BA70-57E84E5EBC61}" type="slidenum">
              <a:rPr lang="en-US" altLang="en-US"/>
              <a:pPr/>
              <a:t>‹#›</a:t>
            </a:fld>
            <a:endParaRPr lang="en-US" altLang="en-US"/>
          </a:p>
        </p:txBody>
      </p:sp>
    </p:spTree>
    <p:extLst>
      <p:ext uri="{BB962C8B-B14F-4D97-AF65-F5344CB8AC3E}">
        <p14:creationId xmlns:p14="http://schemas.microsoft.com/office/powerpoint/2010/main" val="27420004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DD7071F2-3919-4E26-AF43-9FCED16B92A8}" type="slidenum">
              <a:rPr lang="en-US" altLang="en-US" sz="1300">
                <a:latin typeface="Times New Roman" panose="02020603050405020304" pitchFamily="18" charset="0"/>
              </a:rPr>
              <a:pPr/>
              <a:t>1</a:t>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DA3F274-ADFB-4FD5-B757-CBCB08A81F91}" type="slidenum">
              <a:rPr lang="en-US" altLang="en-US" sz="1300">
                <a:latin typeface="Times New Roman" panose="02020603050405020304" pitchFamily="18" charset="0"/>
              </a:rPr>
              <a:pPr/>
              <a:t>2</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88AF9D5-57A0-4B31-A882-145E6C6BFC9C}" type="slidenum">
              <a:rPr lang="en-US" altLang="en-US" sz="1300">
                <a:latin typeface="Times New Roman" panose="02020603050405020304" pitchFamily="18" charset="0"/>
              </a:rPr>
              <a:pPr/>
              <a:t>3</a:t>
            </a:fld>
            <a:endParaRPr lang="en-US" altLang="en-US" sz="13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1CFEFDA-32A0-4824-A3FF-CC6061F9E119}" type="slidenum">
              <a:rPr lang="en-US" altLang="en-US" sz="1300">
                <a:latin typeface="Times New Roman" panose="02020603050405020304" pitchFamily="18" charset="0"/>
              </a:rPr>
              <a:pPr/>
              <a:t>4</a:t>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88625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88AF9D5-57A0-4B31-A882-145E6C6BFC9C}" type="slidenum">
              <a:rPr lang="en-US" altLang="en-US" sz="1300">
                <a:latin typeface="Times New Roman" panose="02020603050405020304" pitchFamily="18" charset="0"/>
              </a:rPr>
              <a:pPr/>
              <a:t>5</a:t>
            </a:fld>
            <a:endParaRPr lang="en-US" altLang="en-US" sz="13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38128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charset="0"/>
                <a:ea typeface="ＭＳ Ｐゴシック" charset="-128"/>
              </a:defRPr>
            </a:lvl1pPr>
            <a:lvl2pPr marL="742950" indent="-285750" defTabSz="930275">
              <a:defRPr sz="1600">
                <a:solidFill>
                  <a:schemeClr val="tx1"/>
                </a:solidFill>
                <a:latin typeface="Helvetica" charset="0"/>
                <a:ea typeface="ＭＳ Ｐゴシック" charset="-128"/>
              </a:defRPr>
            </a:lvl2pPr>
            <a:lvl3pPr marL="1143000" indent="-228600" defTabSz="930275">
              <a:defRPr sz="1600">
                <a:solidFill>
                  <a:schemeClr val="tx1"/>
                </a:solidFill>
                <a:latin typeface="Helvetica" charset="0"/>
                <a:ea typeface="ＭＳ Ｐゴシック" charset="-128"/>
              </a:defRPr>
            </a:lvl3pPr>
            <a:lvl4pPr marL="1600200" indent="-228600" defTabSz="930275">
              <a:defRPr sz="1600">
                <a:solidFill>
                  <a:schemeClr val="tx1"/>
                </a:solidFill>
                <a:latin typeface="Helvetica" charset="0"/>
                <a:ea typeface="ＭＳ Ｐゴシック" charset="-128"/>
              </a:defRPr>
            </a:lvl4pPr>
            <a:lvl5pPr marL="2057400" indent="-228600" defTabSz="930275">
              <a:defRPr sz="1600">
                <a:solidFill>
                  <a:schemeClr val="tx1"/>
                </a:solidFill>
                <a:latin typeface="Helvetica" charset="0"/>
                <a:ea typeface="ＭＳ Ｐゴシック" charset="-128"/>
              </a:defRPr>
            </a:lvl5pPr>
            <a:lvl6pPr marL="2514600" indent="-228600" defTabSz="930275"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defTabSz="930275"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defTabSz="930275"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defTabSz="930275" eaLnBrk="0" fontAlgn="base" hangingPunct="0">
              <a:spcBef>
                <a:spcPct val="0"/>
              </a:spcBef>
              <a:spcAft>
                <a:spcPct val="0"/>
              </a:spcAft>
              <a:defRPr sz="1600">
                <a:solidFill>
                  <a:schemeClr val="tx1"/>
                </a:solidFill>
                <a:latin typeface="Helvetica" charset="0"/>
                <a:ea typeface="ＭＳ Ｐゴシック" charset="-128"/>
              </a:defRPr>
            </a:lvl9pPr>
          </a:lstStyle>
          <a:p>
            <a:fld id="{DB994A67-10A8-4665-8B95-87B03D43ADA4}" type="slidenum">
              <a:rPr lang="en-US" sz="1300" smtClean="0">
                <a:latin typeface="Times New Roman" charset="0"/>
              </a:rPr>
              <a:pPr/>
              <a:t>6</a:t>
            </a:fld>
            <a:endParaRPr lang="en-US" sz="1300" smtClean="0">
              <a:latin typeface="Times New 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A7FA315-0166-4801-8239-DC32DA230627}" type="slidenum">
              <a:rPr lang="en-US" altLang="en-US" sz="1200"/>
              <a:pPr/>
              <a:t>10</a:t>
            </a:fld>
            <a:endParaRPr lang="en-US" altLang="en-US" sz="1200"/>
          </a:p>
        </p:txBody>
      </p:sp>
      <p:sp>
        <p:nvSpPr>
          <p:cNvPr id="136194" name="Rectangle 2"/>
          <p:cNvSpPr>
            <a:spLocks noGrp="1" noRot="1" noChangeAspect="1" noChangeArrowheads="1" noTextEdit="1"/>
          </p:cNvSpPr>
          <p:nvPr>
            <p:ph type="sldImg"/>
          </p:nvPr>
        </p:nvSpPr>
        <p:spPr>
          <a:xfrm>
            <a:off x="1179513" y="696913"/>
            <a:ext cx="4641850" cy="3481387"/>
          </a:xfrm>
          <a:ln/>
        </p:spPr>
      </p:sp>
      <p:sp>
        <p:nvSpPr>
          <p:cNvPr id="136195"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A7FA315-0166-4801-8239-DC32DA230627}" type="slidenum">
              <a:rPr lang="en-US" altLang="en-US" sz="1200"/>
              <a:pPr/>
              <a:t>11</a:t>
            </a:fld>
            <a:endParaRPr lang="en-US" altLang="en-US" sz="1200"/>
          </a:p>
        </p:txBody>
      </p:sp>
      <p:sp>
        <p:nvSpPr>
          <p:cNvPr id="136194" name="Rectangle 2"/>
          <p:cNvSpPr>
            <a:spLocks noGrp="1" noRot="1" noChangeAspect="1" noChangeArrowheads="1" noTextEdit="1"/>
          </p:cNvSpPr>
          <p:nvPr>
            <p:ph type="sldImg"/>
          </p:nvPr>
        </p:nvSpPr>
        <p:spPr>
          <a:xfrm>
            <a:off x="1179513" y="696913"/>
            <a:ext cx="4641850" cy="3481387"/>
          </a:xfrm>
          <a:ln/>
        </p:spPr>
      </p:sp>
      <p:sp>
        <p:nvSpPr>
          <p:cNvPr id="136195"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0A8B83F-C782-44D1-BCE3-3B247EB1AA1A}" type="slidenum">
              <a:rPr lang="en-US" altLang="en-US" sz="1200"/>
              <a:pPr/>
              <a:t>12</a:t>
            </a:fld>
            <a:endParaRPr lang="en-US" altLang="en-US" sz="120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4A9C6FA-E89F-48AD-AF8C-46D935E15309}" type="slidenum">
              <a:rPr lang="en-US" altLang="en-US" sz="1200"/>
              <a:pPr/>
              <a:t>13</a:t>
            </a:fld>
            <a:endParaRPr lang="en-US" altLang="en-US" sz="1200"/>
          </a:p>
        </p:txBody>
      </p:sp>
      <p:sp>
        <p:nvSpPr>
          <p:cNvPr id="138242" name="Rectangle 2"/>
          <p:cNvSpPr>
            <a:spLocks noGrp="1" noRot="1" noChangeAspect="1" noChangeArrowheads="1" noTextEdit="1"/>
          </p:cNvSpPr>
          <p:nvPr>
            <p:ph type="sldImg"/>
          </p:nvPr>
        </p:nvSpPr>
        <p:spPr>
          <a:xfrm>
            <a:off x="1179513" y="696913"/>
            <a:ext cx="4641850" cy="3481387"/>
          </a:xfrm>
          <a:ln/>
        </p:spPr>
      </p:sp>
      <p:sp>
        <p:nvSpPr>
          <p:cNvPr id="138243"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B9581CA-9744-4AE9-97B1-CC8F86FC4573}" type="slidenum">
              <a:rPr lang="en-US" altLang="en-US" sz="1200"/>
              <a:pPr/>
              <a:t>14</a:t>
            </a:fld>
            <a:endParaRPr lang="en-US" altLang="en-US" sz="1200"/>
          </a:p>
        </p:txBody>
      </p:sp>
      <p:sp>
        <p:nvSpPr>
          <p:cNvPr id="139266" name="Rectangle 2"/>
          <p:cNvSpPr>
            <a:spLocks noGrp="1" noRot="1" noChangeAspect="1" noChangeArrowheads="1" noTextEdit="1"/>
          </p:cNvSpPr>
          <p:nvPr>
            <p:ph type="sldImg"/>
          </p:nvPr>
        </p:nvSpPr>
        <p:spPr>
          <a:xfrm>
            <a:off x="1179513" y="696913"/>
            <a:ext cx="4641850" cy="3481387"/>
          </a:xfrm>
          <a:ln/>
        </p:spPr>
      </p:sp>
      <p:sp>
        <p:nvSpPr>
          <p:cNvPr id="139267"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08B9485-3AD2-4911-8BBF-E462B9402698}" type="slidenum">
              <a:rPr lang="en-US" altLang="en-US" sz="1200"/>
              <a:pPr/>
              <a:t>15</a:t>
            </a:fld>
            <a:endParaRPr lang="en-US" altLang="en-US" sz="1200"/>
          </a:p>
        </p:txBody>
      </p:sp>
      <p:sp>
        <p:nvSpPr>
          <p:cNvPr id="148482" name="Rectangle 2"/>
          <p:cNvSpPr>
            <a:spLocks noGrp="1" noRot="1" noChangeAspect="1" noChangeArrowheads="1" noTextEdit="1"/>
          </p:cNvSpPr>
          <p:nvPr>
            <p:ph type="sldImg"/>
          </p:nvPr>
        </p:nvSpPr>
        <p:spPr>
          <a:xfrm>
            <a:off x="1179513" y="696913"/>
            <a:ext cx="4641850" cy="3481387"/>
          </a:xfrm>
          <a:ln/>
        </p:spPr>
      </p:sp>
      <p:sp>
        <p:nvSpPr>
          <p:cNvPr id="148483"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08B9485-3AD2-4911-8BBF-E462B9402698}" type="slidenum">
              <a:rPr lang="en-US" altLang="en-US" sz="1200"/>
              <a:pPr/>
              <a:t>16</a:t>
            </a:fld>
            <a:endParaRPr lang="en-US" altLang="en-US" sz="1200"/>
          </a:p>
        </p:txBody>
      </p:sp>
      <p:sp>
        <p:nvSpPr>
          <p:cNvPr id="148482" name="Rectangle 2"/>
          <p:cNvSpPr>
            <a:spLocks noGrp="1" noRot="1" noChangeAspect="1" noChangeArrowheads="1" noTextEdit="1"/>
          </p:cNvSpPr>
          <p:nvPr>
            <p:ph type="sldImg"/>
          </p:nvPr>
        </p:nvSpPr>
        <p:spPr>
          <a:xfrm>
            <a:off x="1179513" y="696913"/>
            <a:ext cx="4641850" cy="3481387"/>
          </a:xfrm>
          <a:ln/>
        </p:spPr>
      </p:sp>
      <p:sp>
        <p:nvSpPr>
          <p:cNvPr id="148483"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08B9485-3AD2-4911-8BBF-E462B9402698}" type="slidenum">
              <a:rPr lang="en-US" altLang="en-US" sz="1200"/>
              <a:pPr/>
              <a:t>17</a:t>
            </a:fld>
            <a:endParaRPr lang="en-US" altLang="en-US" sz="1200"/>
          </a:p>
        </p:txBody>
      </p:sp>
      <p:sp>
        <p:nvSpPr>
          <p:cNvPr id="148482" name="Rectangle 2"/>
          <p:cNvSpPr>
            <a:spLocks noGrp="1" noRot="1" noChangeAspect="1" noChangeArrowheads="1" noTextEdit="1"/>
          </p:cNvSpPr>
          <p:nvPr>
            <p:ph type="sldImg"/>
          </p:nvPr>
        </p:nvSpPr>
        <p:spPr>
          <a:xfrm>
            <a:off x="1179513" y="696913"/>
            <a:ext cx="4641850" cy="3481387"/>
          </a:xfrm>
          <a:ln/>
        </p:spPr>
      </p:sp>
      <p:sp>
        <p:nvSpPr>
          <p:cNvPr id="148483"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ED35618-7C48-4401-8AA7-EE46D6EA65B1}" type="slidenum">
              <a:rPr lang="en-US" altLang="en-US" sz="1200"/>
              <a:pPr/>
              <a:t>18</a:t>
            </a:fld>
            <a:endParaRPr lang="en-US" altLang="en-US" sz="1200"/>
          </a:p>
        </p:txBody>
      </p:sp>
      <p:sp>
        <p:nvSpPr>
          <p:cNvPr id="140290" name="Rectangle 2"/>
          <p:cNvSpPr>
            <a:spLocks noGrp="1" noRot="1" noChangeAspect="1" noChangeArrowheads="1" noTextEdit="1"/>
          </p:cNvSpPr>
          <p:nvPr>
            <p:ph type="sldImg"/>
          </p:nvPr>
        </p:nvSpPr>
        <p:spPr>
          <a:xfrm>
            <a:off x="1179513" y="696913"/>
            <a:ext cx="4641850" cy="3481387"/>
          </a:xfrm>
          <a:ln/>
        </p:spPr>
      </p:sp>
      <p:sp>
        <p:nvSpPr>
          <p:cNvPr id="140291"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A089ECB-C02A-4812-92E9-50A27A2ED8E8}" type="slidenum">
              <a:rPr lang="en-US" altLang="en-US" sz="1200"/>
              <a:pPr/>
              <a:t>19</a:t>
            </a:fld>
            <a:endParaRPr lang="en-US" altLang="en-US" sz="1200"/>
          </a:p>
        </p:txBody>
      </p:sp>
      <p:sp>
        <p:nvSpPr>
          <p:cNvPr id="141314" name="Rectangle 2"/>
          <p:cNvSpPr>
            <a:spLocks noGrp="1" noRot="1" noChangeAspect="1" noChangeArrowheads="1" noTextEdit="1"/>
          </p:cNvSpPr>
          <p:nvPr>
            <p:ph type="sldImg"/>
          </p:nvPr>
        </p:nvSpPr>
        <p:spPr>
          <a:xfrm>
            <a:off x="1179513" y="696913"/>
            <a:ext cx="4641850" cy="3481387"/>
          </a:xfrm>
          <a:ln/>
        </p:spPr>
      </p:sp>
      <p:sp>
        <p:nvSpPr>
          <p:cNvPr id="141315"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5009E46-8CAF-41A7-A11E-15742550A789}" type="slidenum">
              <a:rPr lang="en-US" altLang="en-US" sz="1200"/>
              <a:pPr/>
              <a:t>20</a:t>
            </a:fld>
            <a:endParaRPr lang="en-US" altLang="en-US" sz="1200"/>
          </a:p>
        </p:txBody>
      </p:sp>
      <p:sp>
        <p:nvSpPr>
          <p:cNvPr id="142338" name="Rectangle 2"/>
          <p:cNvSpPr>
            <a:spLocks noGrp="1" noRot="1" noChangeAspect="1" noChangeArrowheads="1" noTextEdit="1"/>
          </p:cNvSpPr>
          <p:nvPr>
            <p:ph type="sldImg"/>
          </p:nvPr>
        </p:nvSpPr>
        <p:spPr>
          <a:xfrm>
            <a:off x="1179513" y="696913"/>
            <a:ext cx="4641850" cy="3481387"/>
          </a:xfrm>
          <a:ln/>
        </p:spPr>
      </p:sp>
      <p:sp>
        <p:nvSpPr>
          <p:cNvPr id="142339"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C7A71CB-FB1D-4339-B745-9D8496BD4BB8}" type="slidenum">
              <a:rPr lang="en-US" altLang="en-US" sz="1200"/>
              <a:pPr algn="r"/>
              <a:t>23</a:t>
            </a:fld>
            <a:endParaRPr lang="en-US" altLang="en-US" sz="1200"/>
          </a:p>
        </p:txBody>
      </p:sp>
      <p:sp>
        <p:nvSpPr>
          <p:cNvPr id="143362" name="Rectangle 2"/>
          <p:cNvSpPr>
            <a:spLocks noGrp="1" noRot="1" noChangeAspect="1" noChangeArrowheads="1" noTextEdit="1"/>
          </p:cNvSpPr>
          <p:nvPr>
            <p:ph type="sldImg"/>
          </p:nvPr>
        </p:nvSpPr>
        <p:spPr>
          <a:xfrm>
            <a:off x="1179513" y="696913"/>
            <a:ext cx="4641850" cy="3481387"/>
          </a:xfrm>
          <a:ln/>
        </p:spPr>
      </p:sp>
      <p:sp>
        <p:nvSpPr>
          <p:cNvPr id="143363"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A2B56931-9F64-4EE4-B5AA-33F06D8C02C2}" type="slidenum">
              <a:rPr lang="en-US" altLang="en-US" sz="1200"/>
              <a:pPr algn="r"/>
              <a:t>24</a:t>
            </a:fld>
            <a:endParaRPr lang="en-US" altLang="en-US" sz="1200"/>
          </a:p>
        </p:txBody>
      </p:sp>
      <p:sp>
        <p:nvSpPr>
          <p:cNvPr id="144386" name="Rectangle 2"/>
          <p:cNvSpPr>
            <a:spLocks noGrp="1" noRot="1" noChangeAspect="1" noChangeArrowheads="1" noTextEdit="1"/>
          </p:cNvSpPr>
          <p:nvPr>
            <p:ph type="sldImg"/>
          </p:nvPr>
        </p:nvSpPr>
        <p:spPr>
          <a:xfrm>
            <a:off x="1179513" y="696913"/>
            <a:ext cx="4641850" cy="3481387"/>
          </a:xfrm>
          <a:ln/>
        </p:spPr>
      </p:sp>
      <p:sp>
        <p:nvSpPr>
          <p:cNvPr id="144387"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763D1AE-0255-4DBD-A99A-5FB6879F6560}" type="slidenum">
              <a:rPr lang="en-US" altLang="en-US" sz="1200"/>
              <a:pPr algn="r"/>
              <a:t>25</a:t>
            </a:fld>
            <a:endParaRPr lang="en-US" altLang="en-US" sz="1200"/>
          </a:p>
        </p:txBody>
      </p:sp>
      <p:sp>
        <p:nvSpPr>
          <p:cNvPr id="145410" name="Rectangle 2"/>
          <p:cNvSpPr>
            <a:spLocks noGrp="1" noRot="1" noChangeAspect="1" noChangeArrowheads="1" noTextEdit="1"/>
          </p:cNvSpPr>
          <p:nvPr>
            <p:ph type="sldImg"/>
          </p:nvPr>
        </p:nvSpPr>
        <p:spPr>
          <a:xfrm>
            <a:off x="1179513" y="696913"/>
            <a:ext cx="4641850" cy="3481387"/>
          </a:xfrm>
          <a:ln/>
        </p:spPr>
      </p:sp>
      <p:sp>
        <p:nvSpPr>
          <p:cNvPr id="145411"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0F1763E5-B066-412E-BA36-B03B23B9C243}" type="slidenum">
              <a:rPr lang="en-US" altLang="en-US" sz="1200"/>
              <a:pPr algn="r"/>
              <a:t>26</a:t>
            </a:fld>
            <a:endParaRPr lang="en-US" altLang="en-US" sz="1200"/>
          </a:p>
        </p:txBody>
      </p:sp>
      <p:sp>
        <p:nvSpPr>
          <p:cNvPr id="146434" name="Rectangle 2"/>
          <p:cNvSpPr>
            <a:spLocks noGrp="1" noRot="1" noChangeAspect="1" noChangeArrowheads="1" noTextEdit="1"/>
          </p:cNvSpPr>
          <p:nvPr>
            <p:ph type="sldImg"/>
          </p:nvPr>
        </p:nvSpPr>
        <p:spPr>
          <a:xfrm>
            <a:off x="1179513" y="696913"/>
            <a:ext cx="4641850" cy="3481387"/>
          </a:xfrm>
          <a:ln/>
        </p:spPr>
      </p:sp>
      <p:sp>
        <p:nvSpPr>
          <p:cNvPr id="146435"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7D30EDF-18DF-4111-8762-FB7C8BE901FB}" type="slidenum">
              <a:rPr lang="en-US" altLang="en-US" sz="1200"/>
              <a:pPr algn="r"/>
              <a:t>27</a:t>
            </a:fld>
            <a:endParaRPr lang="en-US" altLang="en-US" sz="1200"/>
          </a:p>
        </p:txBody>
      </p:sp>
      <p:sp>
        <p:nvSpPr>
          <p:cNvPr id="147458" name="Rectangle 2"/>
          <p:cNvSpPr>
            <a:spLocks noGrp="1" noRot="1" noChangeAspect="1" noChangeArrowheads="1" noTextEdit="1"/>
          </p:cNvSpPr>
          <p:nvPr>
            <p:ph type="sldImg"/>
          </p:nvPr>
        </p:nvSpPr>
        <p:spPr>
          <a:xfrm>
            <a:off x="1179513" y="696913"/>
            <a:ext cx="4641850" cy="3481387"/>
          </a:xfrm>
          <a:ln/>
        </p:spPr>
      </p:sp>
      <p:sp>
        <p:nvSpPr>
          <p:cNvPr id="147459"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31" tIns="46516" rIns="93031" bIns="46516" anchor="b"/>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7D30EDF-18DF-4111-8762-FB7C8BE901FB}" type="slidenum">
              <a:rPr lang="en-US" altLang="en-US" sz="1200"/>
              <a:pPr algn="r"/>
              <a:t>28</a:t>
            </a:fld>
            <a:endParaRPr lang="en-US" altLang="en-US" sz="1200"/>
          </a:p>
        </p:txBody>
      </p:sp>
      <p:sp>
        <p:nvSpPr>
          <p:cNvPr id="147458" name="Rectangle 2"/>
          <p:cNvSpPr>
            <a:spLocks noGrp="1" noRot="1" noChangeAspect="1" noChangeArrowheads="1" noTextEdit="1"/>
          </p:cNvSpPr>
          <p:nvPr>
            <p:ph type="sldImg"/>
          </p:nvPr>
        </p:nvSpPr>
        <p:spPr>
          <a:xfrm>
            <a:off x="1179513" y="696913"/>
            <a:ext cx="4641850" cy="3481387"/>
          </a:xfrm>
          <a:ln/>
        </p:spPr>
      </p:sp>
      <p:sp>
        <p:nvSpPr>
          <p:cNvPr id="147459"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16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F967C4E-C5BD-4D8F-9E7D-EEEE8459EF61}" type="slidenum">
              <a:rPr lang="en-US" altLang="en-US" sz="1200"/>
              <a:pPr/>
              <a:t>29</a:t>
            </a:fld>
            <a:endParaRPr lang="en-US" altLang="en-US" sz="1200"/>
          </a:p>
        </p:txBody>
      </p:sp>
      <p:sp>
        <p:nvSpPr>
          <p:cNvPr id="150530" name="Rectangle 2"/>
          <p:cNvSpPr>
            <a:spLocks noGrp="1" noRot="1" noChangeAspect="1" noChangeArrowheads="1" noTextEdit="1"/>
          </p:cNvSpPr>
          <p:nvPr>
            <p:ph type="sldImg"/>
          </p:nvPr>
        </p:nvSpPr>
        <p:spPr>
          <a:xfrm>
            <a:off x="1179513" y="696913"/>
            <a:ext cx="4641850" cy="3481387"/>
          </a:xfrm>
          <a:ln/>
        </p:spPr>
      </p:sp>
      <p:sp>
        <p:nvSpPr>
          <p:cNvPr id="150531"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7666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85800" y="1102497"/>
            <a:ext cx="7843058"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pPr>
              <a:defRPr/>
            </a:pPr>
            <a:fld id="{9DC0FF13-A7A4-47FE-9669-E2EFAD58ABEC}" type="slidenum">
              <a:rPr lang="en-US" altLang="en-US" smtClean="0"/>
              <a:pPr>
                <a:defRPr/>
              </a:pPr>
              <a:t>‹#›</a:t>
            </a:fld>
            <a:endParaRPr lang="en-US" altLang="en-US"/>
          </a:p>
        </p:txBody>
      </p:sp>
    </p:spTree>
    <p:extLst>
      <p:ext uri="{BB962C8B-B14F-4D97-AF65-F5344CB8AC3E}">
        <p14:creationId xmlns:p14="http://schemas.microsoft.com/office/powerpoint/2010/main" val="996870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pPr>
              <a:defRPr/>
            </a:pPr>
            <a:fld id="{37F29D90-88FA-402A-BEA8-1EF51CAB6752}" type="slidenum">
              <a:rPr lang="en-US" altLang="en-US" smtClean="0"/>
              <a:pPr>
                <a:defRPr/>
              </a:pPr>
              <a:t>‹#›</a:t>
            </a:fld>
            <a:endParaRPr lang="en-US" altLang="en-US"/>
          </a:p>
        </p:txBody>
      </p:sp>
    </p:spTree>
    <p:extLst>
      <p:ext uri="{BB962C8B-B14F-4D97-AF65-F5344CB8AC3E}">
        <p14:creationId xmlns:p14="http://schemas.microsoft.com/office/powerpoint/2010/main" val="7617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Rectangle 3">
            <a:extLst>
              <a:ext uri="{FF2B5EF4-FFF2-40B4-BE49-F238E27FC236}">
                <a16:creationId xmlns=""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pPr>
              <a:defRPr/>
            </a:pPr>
            <a:fld id="{E5F592F4-3A7D-46E7-98AB-5C544D380A1B}" type="slidenum">
              <a:rPr lang="en-US" altLang="en-US" smtClean="0"/>
              <a:pPr>
                <a:defRPr/>
              </a:pPr>
              <a:t>‹#›</a:t>
            </a:fld>
            <a:endParaRPr lang="en-US" altLang="en-US"/>
          </a:p>
        </p:txBody>
      </p:sp>
      <p:sp>
        <p:nvSpPr>
          <p:cNvPr id="6" name="Content Placeholder 2">
            <a:extLst>
              <a:ext uri="{FF2B5EF4-FFF2-40B4-BE49-F238E27FC236}">
                <a16:creationId xmlns="" xmlns:a16="http://schemas.microsoft.com/office/drawing/2014/main" id="{EE86E211-15D2-459B-B331-A82FFB150BE0}"/>
              </a:ext>
            </a:extLst>
          </p:cNvPr>
          <p:cNvSpPr>
            <a:spLocks noGrp="1"/>
          </p:cNvSpPr>
          <p:nvPr>
            <p:ph idx="1"/>
          </p:nvPr>
        </p:nvSpPr>
        <p:spPr>
          <a:xfrm>
            <a:off x="685800" y="1102497"/>
            <a:ext cx="373697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33259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pPr>
              <a:defRPr/>
            </a:pPr>
            <a:fld id="{574C0E4B-79D4-46C0-883C-5BC043062C35}" type="slidenum">
              <a:rPr lang="en-US" altLang="en-US" smtClean="0"/>
              <a:pPr>
                <a:defRPr/>
              </a:pPr>
              <a:t>‹#›</a:t>
            </a:fld>
            <a:endParaRPr lang="en-US" altLang="en-US"/>
          </a:p>
        </p:txBody>
      </p:sp>
    </p:spTree>
    <p:extLst>
      <p:ext uri="{BB962C8B-B14F-4D97-AF65-F5344CB8AC3E}">
        <p14:creationId xmlns:p14="http://schemas.microsoft.com/office/powerpoint/2010/main" val="3745921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pPr>
              <a:defRPr/>
            </a:pPr>
            <a:fld id="{BDFDF77F-67A1-48F6-8358-97C70542CB22}" type="slidenum">
              <a:rPr lang="en-US" altLang="en-US" smtClean="0"/>
              <a:pPr>
                <a:defRPr/>
              </a:pPr>
              <a:t>‹#›</a:t>
            </a:fld>
            <a:endParaRPr lang="en-US" altLang="en-US"/>
          </a:p>
        </p:txBody>
      </p:sp>
    </p:spTree>
    <p:extLst>
      <p:ext uri="{BB962C8B-B14F-4D97-AF65-F5344CB8AC3E}">
        <p14:creationId xmlns:p14="http://schemas.microsoft.com/office/powerpoint/2010/main" val="173673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pPr>
              <a:defRPr/>
            </a:pPr>
            <a:fld id="{AA16F0F5-1220-4B86-AECD-B7BEE6E1BE7F}" type="slidenum">
              <a:rPr lang="en-US" altLang="en-US" smtClean="0"/>
              <a:pPr>
                <a:defRPr/>
              </a:pPr>
              <a:t>‹#›</a:t>
            </a:fld>
            <a:endParaRPr lang="en-US" altLang="en-US"/>
          </a:p>
        </p:txBody>
      </p:sp>
    </p:spTree>
    <p:extLst>
      <p:ext uri="{BB962C8B-B14F-4D97-AF65-F5344CB8AC3E}">
        <p14:creationId xmlns:p14="http://schemas.microsoft.com/office/powerpoint/2010/main" val="1039976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pPr>
              <a:defRPr/>
            </a:pPr>
            <a:fld id="{2725D68A-6EDF-45EE-BBA8-637BD793E613}" type="slidenum">
              <a:rPr lang="en-US" altLang="en-US" smtClean="0"/>
              <a:pPr>
                <a:defRPr/>
              </a:pPr>
              <a:t>‹#›</a:t>
            </a:fld>
            <a:endParaRPr lang="en-US" altLang="en-US"/>
          </a:p>
        </p:txBody>
      </p:sp>
    </p:spTree>
    <p:extLst>
      <p:ext uri="{BB962C8B-B14F-4D97-AF65-F5344CB8AC3E}">
        <p14:creationId xmlns:p14="http://schemas.microsoft.com/office/powerpoint/2010/main" val="2654949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pPr>
              <a:defRPr/>
            </a:pPr>
            <a:fld id="{6D035670-FB96-4DB8-BA64-B31D7C042BD4}" type="slidenum">
              <a:rPr lang="en-US" altLang="en-US" smtClean="0"/>
              <a:pPr>
                <a:defRPr/>
              </a:pPr>
              <a:t>‹#›</a:t>
            </a:fld>
            <a:endParaRPr lang="en-US" altLang="en-US"/>
          </a:p>
        </p:txBody>
      </p:sp>
    </p:spTree>
    <p:extLst>
      <p:ext uri="{BB962C8B-B14F-4D97-AF65-F5344CB8AC3E}">
        <p14:creationId xmlns:p14="http://schemas.microsoft.com/office/powerpoint/2010/main" val="3475322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pPr>
              <a:defRPr/>
            </a:pPr>
            <a:fld id="{6BE145AF-6EF6-4D3F-9F5A-D9A01965DFCC}" type="slidenum">
              <a:rPr lang="en-US" altLang="en-US" smtClean="0"/>
              <a:pPr>
                <a:defRPr/>
              </a:pPr>
              <a:t>‹#›</a:t>
            </a:fld>
            <a:endParaRPr lang="en-US" altLang="en-US"/>
          </a:p>
        </p:txBody>
      </p:sp>
    </p:spTree>
    <p:extLst>
      <p:ext uri="{BB962C8B-B14F-4D97-AF65-F5344CB8AC3E}">
        <p14:creationId xmlns:p14="http://schemas.microsoft.com/office/powerpoint/2010/main" val="3947380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pPr>
              <a:defRPr/>
            </a:pPr>
            <a:fld id="{330473E3-C97D-4F1E-BBB4-46F84DAEF79D}" type="slidenum">
              <a:rPr lang="en-US" altLang="en-US" smtClean="0"/>
              <a:pPr>
                <a:defRPr/>
              </a:pPr>
              <a:t>‹#›</a:t>
            </a:fld>
            <a:endParaRPr lang="en-US" altLang="en-US"/>
          </a:p>
        </p:txBody>
      </p:sp>
    </p:spTree>
    <p:extLst>
      <p:ext uri="{BB962C8B-B14F-4D97-AF65-F5344CB8AC3E}">
        <p14:creationId xmlns:p14="http://schemas.microsoft.com/office/powerpoint/2010/main" val="3138570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pPr>
              <a:defRPr/>
            </a:pPr>
            <a:fld id="{C2ED80F2-B6B5-42D7-B641-5532DED86820}" type="slidenum">
              <a:rPr lang="en-US" altLang="en-US"/>
              <a:pPr>
                <a:defRPr/>
              </a:pPr>
              <a:t>‹#›</a:t>
            </a:fld>
            <a:endParaRPr lang="en-US" altLang="en-US"/>
          </a:p>
        </p:txBody>
      </p:sp>
    </p:spTree>
    <p:extLst>
      <p:ext uri="{BB962C8B-B14F-4D97-AF65-F5344CB8AC3E}">
        <p14:creationId xmlns:p14="http://schemas.microsoft.com/office/powerpoint/2010/main" val="2857532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 xmlns:a16="http://schemas.microsoft.com/office/drawing/2014/main" id="{4053C40E-D8FC-4564-9F45-CF1A70873460}"/>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a:pPr>
                <a:defRPr/>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276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 xmlns:a16="http://schemas.microsoft.com/office/drawing/2014/main" id="{40B05D94-0FBF-40E0-A0E2-9EC3FEAB3CBA}"/>
              </a:ext>
            </a:extLst>
          </p:cNvPr>
          <p:cNvSpPr>
            <a:spLocks noGrp="1" noChangeArrowheads="1"/>
          </p:cNvSpPr>
          <p:nvPr>
            <p:ph type="body" idx="1"/>
          </p:nvPr>
        </p:nvSpPr>
        <p:spPr bwMode="auto">
          <a:xfrm>
            <a:off x="650876" y="1093788"/>
            <a:ext cx="7824788"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pPr>
              <a:defRPr/>
            </a:pPr>
            <a:fld id="{43251494-9320-46DB-9561-B10814EE66F9}" type="slidenum">
              <a:rPr lang="en-US" altLang="en-US" smtClean="0"/>
              <a:pPr>
                <a:defRPr/>
              </a:pPr>
              <a:t>‹#›</a:t>
            </a:fld>
            <a:endParaRPr lang="en-US" altLang="en-US"/>
          </a:p>
        </p:txBody>
      </p:sp>
      <p:sp>
        <p:nvSpPr>
          <p:cNvPr id="1028" name="Text Box 4">
            <a:extLst>
              <a:ext uri="{FF2B5EF4-FFF2-40B4-BE49-F238E27FC236}">
                <a16:creationId xmlns=""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11.</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31" name="Text Box 7">
            <a:extLst>
              <a:ext uri="{FF2B5EF4-FFF2-40B4-BE49-F238E27FC236}">
                <a16:creationId xmlns=""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 xmlns:a16="http://schemas.microsoft.com/office/drawing/2014/main" id="{8415B884-A6BF-4E61-8F45-53870045B3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 xmlns:a16="http://schemas.microsoft.com/office/drawing/2014/main" id="{94A5DBF8-AE74-4D26-9D0D-4F4706989ED8}"/>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820750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p:txBody>
          <a:bodyPr/>
          <a:lstStyle/>
          <a:p>
            <a:pPr>
              <a:defRPr/>
            </a:pPr>
            <a:r>
              <a:rPr lang="en-US">
                <a:ea typeface="+mj-ea"/>
              </a:rPr>
              <a:t>Data Warehousing</a:t>
            </a:r>
          </a:p>
        </p:txBody>
      </p:sp>
      <p:sp>
        <p:nvSpPr>
          <p:cNvPr id="8195" name="Rectangle 3"/>
          <p:cNvSpPr>
            <a:spLocks noGrp="1" noChangeArrowheads="1"/>
          </p:cNvSpPr>
          <p:nvPr>
            <p:ph idx="1"/>
          </p:nvPr>
        </p:nvSpPr>
        <p:spPr/>
        <p:txBody>
          <a:bodyPr/>
          <a:lstStyle/>
          <a:p>
            <a:r>
              <a:rPr lang="en-US" altLang="en-US" dirty="0">
                <a:ea typeface="ＭＳ Ｐゴシック" panose="020B0600070205080204" pitchFamily="34" charset="-128"/>
              </a:rPr>
              <a:t>Data sources often store only current data, not historical data</a:t>
            </a:r>
          </a:p>
          <a:p>
            <a:pPr>
              <a:lnSpc>
                <a:spcPct val="90000"/>
              </a:lnSpc>
            </a:pPr>
            <a:r>
              <a:rPr lang="en-US" dirty="0"/>
              <a:t>Large organizations have a complex internal organization structure and therefore different data may be present in different locations or on different operational systems or under different schemas.</a:t>
            </a:r>
          </a:p>
          <a:p>
            <a:pPr>
              <a:lnSpc>
                <a:spcPct val="90000"/>
              </a:lnSpc>
            </a:pPr>
            <a:r>
              <a:rPr lang="en-US" dirty="0"/>
              <a:t>Corporate decision making requires a unified view of all organizational data, including historical data</a:t>
            </a:r>
            <a:r>
              <a:rPr lang="en-US" dirty="0" smtClean="0"/>
              <a:t>.</a:t>
            </a:r>
          </a:p>
          <a:p>
            <a:pPr>
              <a:lnSpc>
                <a:spcPct val="90000"/>
              </a:lnSpc>
            </a:pPr>
            <a:r>
              <a:rPr lang="en-US" dirty="0"/>
              <a:t>Data may also be purchased externally.</a:t>
            </a:r>
            <a:endParaRPr lang="en-US" altLang="en-US" dirty="0" smtClean="0">
              <a:ea typeface="ＭＳ Ｐゴシック" panose="020B0600070205080204" pitchFamily="34" charset="-128"/>
            </a:endParaRPr>
          </a:p>
          <a:p>
            <a:r>
              <a:rPr lang="en-US" altLang="en-US" dirty="0" smtClean="0">
                <a:ea typeface="ＭＳ Ｐゴシック" panose="020B0600070205080204" pitchFamily="34" charset="-128"/>
              </a:rPr>
              <a:t>A </a:t>
            </a:r>
            <a:r>
              <a:rPr lang="en-US" altLang="en-US" b="1" dirty="0">
                <a:solidFill>
                  <a:srgbClr val="002060"/>
                </a:solidFill>
                <a:ea typeface="ＭＳ Ｐゴシック" panose="020B0600070205080204" pitchFamily="34" charset="-128"/>
              </a:rPr>
              <a:t>data warehouse</a:t>
            </a:r>
            <a:r>
              <a:rPr lang="en-US" altLang="en-US" dirty="0">
                <a:solidFill>
                  <a:srgbClr val="002060"/>
                </a:solidFill>
                <a:ea typeface="ＭＳ Ｐゴシック" panose="020B0600070205080204" pitchFamily="34" charset="-128"/>
              </a:rPr>
              <a:t> </a:t>
            </a:r>
            <a:r>
              <a:rPr lang="en-US" altLang="en-US" dirty="0">
                <a:ea typeface="ＭＳ Ｐゴシック" panose="020B0600070205080204" pitchFamily="34" charset="-128"/>
              </a:rPr>
              <a:t>is a repository (archive) of information gathered from multiple sources, stored under a unified schema, at a single </a:t>
            </a:r>
            <a:r>
              <a:rPr lang="en-US" altLang="en-US" dirty="0" smtClean="0">
                <a:ea typeface="ＭＳ Ｐゴシック" panose="020B0600070205080204" pitchFamily="34" charset="-128"/>
              </a:rPr>
              <a:t>site. </a:t>
            </a:r>
            <a:r>
              <a:rPr lang="en-US" sz="1800" dirty="0"/>
              <a:t>Thus they provide the user a single uniform interface to data.</a:t>
            </a:r>
          </a:p>
          <a:p>
            <a:pPr lvl="1"/>
            <a:r>
              <a:rPr lang="en-US" altLang="en-US" dirty="0" smtClean="0">
                <a:ea typeface="ＭＳ Ｐゴシック" panose="020B0600070205080204" pitchFamily="34" charset="-128"/>
              </a:rPr>
              <a:t>Greatly </a:t>
            </a:r>
            <a:r>
              <a:rPr lang="en-US" altLang="en-US" dirty="0">
                <a:ea typeface="ＭＳ Ｐゴシック" panose="020B0600070205080204" pitchFamily="34" charset="-128"/>
              </a:rPr>
              <a:t>simplifies querying, permits study of historical </a:t>
            </a:r>
            <a:r>
              <a:rPr lang="en-US" altLang="en-US" dirty="0" smtClean="0">
                <a:ea typeface="ＭＳ Ｐゴシック" panose="020B0600070205080204" pitchFamily="34" charset="-128"/>
              </a:rPr>
              <a:t>trends</a:t>
            </a:r>
          </a:p>
          <a:p>
            <a:pPr lvl="1">
              <a:lnSpc>
                <a:spcPct val="90000"/>
              </a:lnSpc>
            </a:pPr>
            <a:r>
              <a:rPr lang="en-US" dirty="0"/>
              <a:t>Once gathered, the data are stored for a long time, permitting access to historical data</a:t>
            </a:r>
          </a:p>
          <a:p>
            <a:pPr lvl="1">
              <a:lnSpc>
                <a:spcPct val="90000"/>
              </a:lnSpc>
            </a:pPr>
            <a:r>
              <a:rPr lang="en-US" dirty="0"/>
              <a:t>Provides the user a single consolidated interface to data, making decision support queries easier to write.</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Shifts decision support query load away from transaction processing systems</a:t>
            </a:r>
          </a:p>
          <a:p>
            <a:endParaRPr lang="en-US" altLang="en-US" dirty="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85800" y="76200"/>
            <a:ext cx="7772400" cy="685800"/>
          </a:xfrm>
        </p:spPr>
        <p:txBody>
          <a:bodyPr/>
          <a:lstStyle/>
          <a:p>
            <a:pPr>
              <a:defRPr/>
            </a:pPr>
            <a:r>
              <a:rPr lang="en-US">
                <a:ea typeface="+mj-ea"/>
              </a:rPr>
              <a:t>Data Warehousing</a:t>
            </a:r>
          </a:p>
        </p:txBody>
      </p:sp>
      <p:pic>
        <p:nvPicPr>
          <p:cNvPr id="921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738" y="1181100"/>
            <a:ext cx="7966075"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768350" y="117475"/>
            <a:ext cx="8077200" cy="985022"/>
          </a:xfrm>
        </p:spPr>
        <p:txBody>
          <a:bodyPr/>
          <a:lstStyle/>
          <a:p>
            <a:pPr>
              <a:defRPr/>
            </a:pPr>
            <a:r>
              <a:rPr lang="en-US" dirty="0">
                <a:ea typeface="+mj-ea"/>
              </a:rPr>
              <a:t>Multidimensional Data and</a:t>
            </a:r>
            <a:br>
              <a:rPr lang="en-US" dirty="0">
                <a:ea typeface="+mj-ea"/>
              </a:rPr>
            </a:br>
            <a:r>
              <a:rPr lang="en-US" dirty="0">
                <a:ea typeface="+mj-ea"/>
              </a:rPr>
              <a:t>Warehouse Schemas</a:t>
            </a:r>
          </a:p>
        </p:txBody>
      </p:sp>
      <p:sp>
        <p:nvSpPr>
          <p:cNvPr id="12291" name="Rectangle 3"/>
          <p:cNvSpPr>
            <a:spLocks noGrp="1" noChangeArrowheads="1"/>
          </p:cNvSpPr>
          <p:nvPr>
            <p:ph idx="1"/>
          </p:nvPr>
        </p:nvSpPr>
        <p:spPr/>
        <p:txBody>
          <a:bodyPr/>
          <a:lstStyle/>
          <a:p>
            <a:r>
              <a:rPr lang="en-US" dirty="0"/>
              <a:t>Data warehouse typically have schemas that are designed for data analysis, using tools such as </a:t>
            </a:r>
            <a:r>
              <a:rPr lang="en-US" dirty="0" smtClean="0"/>
              <a:t>OLAP. </a:t>
            </a:r>
            <a:r>
              <a:rPr lang="en-US" dirty="0"/>
              <a:t>Thus, the data are usually multidimensional data, with dimension attributes and measure attributes</a:t>
            </a:r>
            <a:r>
              <a:rPr lang="en-US" dirty="0" smtClean="0"/>
              <a:t>.</a:t>
            </a:r>
            <a:endParaRPr lang="en-US" altLang="en-US" dirty="0"/>
          </a:p>
          <a:p>
            <a:r>
              <a:rPr lang="en-US" altLang="en-US" dirty="0" smtClean="0"/>
              <a:t>Data </a:t>
            </a:r>
            <a:r>
              <a:rPr lang="en-US" altLang="en-US" dirty="0"/>
              <a:t>in warehouses can usually be divided into</a:t>
            </a:r>
          </a:p>
          <a:p>
            <a:pPr lvl="1"/>
            <a:r>
              <a:rPr lang="en-US" altLang="en-US" b="1" dirty="0">
                <a:solidFill>
                  <a:srgbClr val="002060"/>
                </a:solidFill>
              </a:rPr>
              <a:t>Fact tables</a:t>
            </a:r>
            <a:r>
              <a:rPr lang="en-US" altLang="en-US" dirty="0"/>
              <a:t>, which are large</a:t>
            </a:r>
          </a:p>
          <a:p>
            <a:pPr lvl="2"/>
            <a:r>
              <a:rPr lang="en-US" altLang="en-US" dirty="0" err="1"/>
              <a:t>E.g</a:t>
            </a:r>
            <a:r>
              <a:rPr lang="en-US" altLang="en-US" dirty="0"/>
              <a:t>, </a:t>
            </a:r>
            <a:r>
              <a:rPr lang="en-US" altLang="en-US" i="1" dirty="0"/>
              <a:t>sales</a:t>
            </a:r>
            <a:r>
              <a:rPr lang="en-US" altLang="en-US" dirty="0"/>
              <a:t>(</a:t>
            </a:r>
            <a:r>
              <a:rPr lang="en-US" altLang="en-US" i="1" dirty="0" err="1"/>
              <a:t>item_id</a:t>
            </a:r>
            <a:r>
              <a:rPr lang="en-US" altLang="en-US" i="1" dirty="0"/>
              <a:t>, </a:t>
            </a:r>
            <a:r>
              <a:rPr lang="en-US" altLang="en-US" i="1" dirty="0" err="1"/>
              <a:t>store_id</a:t>
            </a:r>
            <a:r>
              <a:rPr lang="en-US" altLang="en-US" i="1" dirty="0"/>
              <a:t>, </a:t>
            </a:r>
            <a:r>
              <a:rPr lang="en-US" altLang="en-US" i="1" dirty="0" err="1"/>
              <a:t>customer_id</a:t>
            </a:r>
            <a:r>
              <a:rPr lang="en-US" altLang="en-US" i="1" dirty="0"/>
              <a:t>, date, number, price</a:t>
            </a:r>
            <a:r>
              <a:rPr lang="en-US" altLang="en-US" dirty="0"/>
              <a:t>)</a:t>
            </a:r>
          </a:p>
          <a:p>
            <a:pPr lvl="1"/>
            <a:r>
              <a:rPr lang="en-US" altLang="en-US" b="1" dirty="0">
                <a:solidFill>
                  <a:srgbClr val="002060"/>
                </a:solidFill>
              </a:rPr>
              <a:t>Dimension tables</a:t>
            </a:r>
            <a:r>
              <a:rPr lang="en-US" altLang="en-US" dirty="0"/>
              <a:t>, which are relatively small</a:t>
            </a:r>
          </a:p>
          <a:p>
            <a:pPr lvl="2"/>
            <a:r>
              <a:rPr lang="en-US" altLang="en-US" dirty="0"/>
              <a:t>Store extra information about stores, items, etc.</a:t>
            </a:r>
          </a:p>
          <a:p>
            <a:r>
              <a:rPr lang="en-US" altLang="en-US" dirty="0"/>
              <a:t>Attributes of fact tables can be usually viewed as</a:t>
            </a:r>
          </a:p>
          <a:p>
            <a:pPr lvl="1"/>
            <a:r>
              <a:rPr lang="en-US" altLang="en-US" b="1" dirty="0">
                <a:solidFill>
                  <a:srgbClr val="002060"/>
                </a:solidFill>
              </a:rPr>
              <a:t>Measure attributes</a:t>
            </a:r>
            <a:r>
              <a:rPr lang="en-US" altLang="en-US" sz="1600" dirty="0">
                <a:solidFill>
                  <a:srgbClr val="002060"/>
                </a:solidFill>
              </a:rPr>
              <a:t> </a:t>
            </a:r>
          </a:p>
          <a:p>
            <a:pPr lvl="2"/>
            <a:r>
              <a:rPr lang="en-US" altLang="en-US" dirty="0"/>
              <a:t>measure some value</a:t>
            </a:r>
            <a:r>
              <a:rPr lang="en-US" altLang="en-US" sz="1600" dirty="0"/>
              <a:t>, and </a:t>
            </a:r>
            <a:r>
              <a:rPr lang="en-US" altLang="en-US" dirty="0"/>
              <a:t>can be aggregated upon</a:t>
            </a:r>
            <a:endParaRPr lang="en-US" altLang="en-US" sz="1600" dirty="0"/>
          </a:p>
          <a:p>
            <a:pPr lvl="2"/>
            <a:r>
              <a:rPr lang="en-US" altLang="en-US" dirty="0"/>
              <a:t>e.g., the attributes </a:t>
            </a:r>
            <a:r>
              <a:rPr lang="en-US" altLang="en-US" i="1" dirty="0"/>
              <a:t>number </a:t>
            </a:r>
            <a:r>
              <a:rPr lang="en-US" altLang="en-US" dirty="0"/>
              <a:t>or </a:t>
            </a:r>
            <a:r>
              <a:rPr lang="en-US" altLang="en-US" i="1" dirty="0"/>
              <a:t>price</a:t>
            </a:r>
            <a:r>
              <a:rPr lang="en-US" altLang="en-US" dirty="0"/>
              <a:t> of the </a:t>
            </a:r>
            <a:r>
              <a:rPr lang="en-US" altLang="en-US" i="1" dirty="0"/>
              <a:t>sales </a:t>
            </a:r>
            <a:r>
              <a:rPr lang="en-US" altLang="en-US" dirty="0"/>
              <a:t>relation</a:t>
            </a:r>
            <a:endParaRPr lang="en-US" altLang="en-US" sz="1600" dirty="0"/>
          </a:p>
          <a:p>
            <a:pPr lvl="1"/>
            <a:r>
              <a:rPr lang="en-US" altLang="en-US" b="1" dirty="0">
                <a:solidFill>
                  <a:srgbClr val="002060"/>
                </a:solidFill>
              </a:rPr>
              <a:t>Dimension attributes</a:t>
            </a:r>
            <a:endParaRPr lang="en-US" altLang="en-US" sz="1600" dirty="0">
              <a:solidFill>
                <a:srgbClr val="002060"/>
              </a:solidFill>
            </a:endParaRPr>
          </a:p>
          <a:p>
            <a:pPr lvl="2"/>
            <a:r>
              <a:rPr lang="en-US" altLang="en-US" dirty="0"/>
              <a:t>dimensions on which measure attributes are </a:t>
            </a:r>
            <a:r>
              <a:rPr lang="en-US" altLang="en-US" dirty="0" smtClean="0"/>
              <a:t>grouped and viewed</a:t>
            </a:r>
            <a:endParaRPr lang="en-US" altLang="en-US" sz="1600" dirty="0"/>
          </a:p>
          <a:p>
            <a:pPr lvl="2"/>
            <a:r>
              <a:rPr lang="en-US" altLang="en-US" dirty="0"/>
              <a:t>e.g.,</a:t>
            </a:r>
            <a:r>
              <a:rPr lang="en-US" altLang="en-US" sz="1600" dirty="0"/>
              <a:t> </a:t>
            </a:r>
            <a:r>
              <a:rPr lang="en-US" altLang="en-US" dirty="0"/>
              <a:t>attributes </a:t>
            </a:r>
            <a:r>
              <a:rPr lang="en-US" altLang="en-US" i="1" dirty="0" err="1"/>
              <a:t>item_id</a:t>
            </a:r>
            <a:r>
              <a:rPr lang="en-US" altLang="en-US" i="1" dirty="0"/>
              <a:t>, </a:t>
            </a:r>
            <a:r>
              <a:rPr lang="en-US" altLang="en-US" i="1" dirty="0" smtClean="0"/>
              <a:t>date, location </a:t>
            </a:r>
            <a:r>
              <a:rPr lang="en-US" altLang="en-US" dirty="0" smtClean="0"/>
              <a:t>and</a:t>
            </a:r>
            <a:r>
              <a:rPr lang="en-US" altLang="en-US" i="1" dirty="0" smtClean="0"/>
              <a:t> customer </a:t>
            </a:r>
            <a:r>
              <a:rPr lang="en-US" altLang="en-US" dirty="0"/>
              <a:t>of the </a:t>
            </a:r>
            <a:r>
              <a:rPr lang="en-US" altLang="en-US" i="1" dirty="0"/>
              <a:t>sales </a:t>
            </a:r>
            <a:r>
              <a:rPr lang="en-US" altLang="en-US" dirty="0" err="1" smtClean="0"/>
              <a:t>rela</a:t>
            </a:r>
            <a:r>
              <a:rPr lang="en-US" altLang="en-US" dirty="0" smtClean="0"/>
              <a:t>.</a:t>
            </a:r>
            <a:endParaRPr lang="en-US" altLang="en-US" dirty="0"/>
          </a:p>
          <a:p>
            <a:pPr lvl="2"/>
            <a:r>
              <a:rPr lang="en-US" altLang="en-US" dirty="0">
                <a:ea typeface="ＭＳ Ｐゴシック" panose="020B0600070205080204" pitchFamily="34" charset="-128"/>
              </a:rPr>
              <a:t>Usually small ids that are foreign keys to dimension tables</a:t>
            </a:r>
          </a:p>
          <a:p>
            <a:pPr lvl="1"/>
            <a:endParaRPr lang="en-US"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a:defRPr/>
            </a:pPr>
            <a:r>
              <a:rPr lang="en-US">
                <a:ea typeface="+mj-ea"/>
              </a:rPr>
              <a:t>Data Warehouse Schema</a:t>
            </a:r>
          </a:p>
        </p:txBody>
      </p:sp>
      <p:pic>
        <p:nvPicPr>
          <p:cNvPr id="4" name="Content Placeholder 3">
            <a:extLst>
              <a:ext uri="{FF2B5EF4-FFF2-40B4-BE49-F238E27FC236}">
                <a16:creationId xmlns="" xmlns:a16="http://schemas.microsoft.com/office/drawing/2014/main" id="{195B8BAF-9A2F-4690-8660-99E6DCF10AEC}"/>
              </a:ext>
            </a:extLst>
          </p:cNvPr>
          <p:cNvPicPr>
            <a:picLocks noGrp="1" noChangeAspect="1"/>
          </p:cNvPicPr>
          <p:nvPr>
            <p:ph idx="1"/>
          </p:nvPr>
        </p:nvPicPr>
        <p:blipFill>
          <a:blip r:embed="rId3">
            <a:extLst>
              <a:ext uri="{96DAC541-7B7A-43D3-8B79-37D633B846F1}">
                <asvg:svgBlip xmlns="" xmlns:asvg="http://schemas.microsoft.com/office/drawing/2016/SVG/main" r:embed="rId4"/>
              </a:ext>
            </a:extLst>
          </a:blip>
          <a:stretch>
            <a:fillRect/>
          </a:stretch>
        </p:blipFill>
        <p:spPr>
          <a:xfrm>
            <a:off x="709066" y="1057275"/>
            <a:ext cx="7840117" cy="4743450"/>
          </a:xfrm>
        </p:spPr>
      </p:pic>
    </p:spTree>
    <p:extLst>
      <p:ext uri="{BB962C8B-B14F-4D97-AF65-F5344CB8AC3E}">
        <p14:creationId xmlns:p14="http://schemas.microsoft.com/office/powerpoint/2010/main" val="36337995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768350" y="117474"/>
            <a:ext cx="8077200" cy="985023"/>
          </a:xfrm>
        </p:spPr>
        <p:txBody>
          <a:bodyPr/>
          <a:lstStyle/>
          <a:p>
            <a:pPr>
              <a:defRPr/>
            </a:pPr>
            <a:r>
              <a:rPr lang="en-US" dirty="0">
                <a:ea typeface="+mj-ea"/>
              </a:rPr>
              <a:t>Multidimensional Data and</a:t>
            </a:r>
            <a:br>
              <a:rPr lang="en-US" dirty="0">
                <a:ea typeface="+mj-ea"/>
              </a:rPr>
            </a:br>
            <a:r>
              <a:rPr lang="en-US" dirty="0">
                <a:ea typeface="+mj-ea"/>
              </a:rPr>
              <a:t>Warehouse Schemas</a:t>
            </a:r>
          </a:p>
        </p:txBody>
      </p:sp>
      <p:sp>
        <p:nvSpPr>
          <p:cNvPr id="12291" name="Rectangle 3"/>
          <p:cNvSpPr>
            <a:spLocks noGrp="1" noChangeArrowheads="1"/>
          </p:cNvSpPr>
          <p:nvPr>
            <p:ph idx="1"/>
          </p:nvPr>
        </p:nvSpPr>
        <p:spPr>
          <a:xfrm>
            <a:off x="683580" y="1282046"/>
            <a:ext cx="7750206" cy="5197850"/>
          </a:xfrm>
        </p:spPr>
        <p:txBody>
          <a:bodyPr/>
          <a:lstStyle/>
          <a:p>
            <a:r>
              <a:rPr lang="en-US" altLang="en-US" dirty="0">
                <a:ea typeface="ＭＳ Ｐゴシック" panose="020B0600070205080204" pitchFamily="34" charset="-128"/>
              </a:rPr>
              <a:t>Resultant schema is called a </a:t>
            </a:r>
            <a:r>
              <a:rPr lang="en-US" altLang="en-US" b="1" dirty="0">
                <a:solidFill>
                  <a:srgbClr val="002060"/>
                </a:solidFill>
                <a:ea typeface="ＭＳ Ｐゴシック" panose="020B0600070205080204" pitchFamily="34" charset="-128"/>
              </a:rPr>
              <a:t>star </a:t>
            </a:r>
            <a:r>
              <a:rPr lang="en-US" altLang="en-US" b="1" dirty="0" smtClean="0">
                <a:solidFill>
                  <a:srgbClr val="002060"/>
                </a:solidFill>
                <a:ea typeface="ＭＳ Ｐゴシック" panose="020B0600070205080204" pitchFamily="34" charset="-128"/>
              </a:rPr>
              <a:t>schema. </a:t>
            </a:r>
            <a:r>
              <a:rPr lang="en-US" dirty="0"/>
              <a:t>A schema, with a fact table, multiple dimension tables and foreign keys from the fact table to dimension tables, is called a</a:t>
            </a:r>
            <a:r>
              <a:rPr lang="en-US" dirty="0">
                <a:solidFill>
                  <a:schemeClr val="tx2"/>
                </a:solidFill>
              </a:rPr>
              <a:t> star schema.</a:t>
            </a:r>
            <a:endParaRPr lang="en-US" altLang="en-US" dirty="0">
              <a:solidFill>
                <a:srgbClr val="002060"/>
              </a:solidFill>
              <a:ea typeface="ＭＳ Ｐゴシック" panose="020B0600070205080204" pitchFamily="34" charset="-128"/>
            </a:endParaRPr>
          </a:p>
          <a:p>
            <a:pPr lvl="1"/>
            <a:r>
              <a:rPr lang="en-US" altLang="en-US" dirty="0">
                <a:ea typeface="ＭＳ Ｐゴシック" panose="020B0600070205080204" pitchFamily="34" charset="-128"/>
              </a:rPr>
              <a:t>More complicated schema structures </a:t>
            </a:r>
          </a:p>
          <a:p>
            <a:pPr lvl="2"/>
            <a:r>
              <a:rPr lang="en-US" altLang="en-US" b="1" dirty="0">
                <a:solidFill>
                  <a:srgbClr val="002060"/>
                </a:solidFill>
                <a:ea typeface="ＭＳ Ｐゴシック" panose="020B0600070205080204" pitchFamily="34" charset="-128"/>
              </a:rPr>
              <a:t>Snowflake schema</a:t>
            </a:r>
            <a:r>
              <a:rPr lang="en-US" altLang="en-US" dirty="0">
                <a:ea typeface="ＭＳ Ｐゴシック" panose="020B0600070205080204" pitchFamily="34" charset="-128"/>
              </a:rPr>
              <a:t>: multiple levels of dimension tables</a:t>
            </a:r>
          </a:p>
          <a:p>
            <a:pPr lvl="2"/>
            <a:r>
              <a:rPr lang="en-US" b="1" dirty="0">
                <a:solidFill>
                  <a:srgbClr val="002060"/>
                </a:solidFill>
                <a:ea typeface="ＭＳ Ｐゴシック" panose="020B0600070205080204" pitchFamily="34" charset="-128"/>
              </a:rPr>
              <a:t>Constellation schema:</a:t>
            </a:r>
            <a:r>
              <a:rPr lang="en-US" sz="1600" dirty="0" smtClean="0"/>
              <a:t> </a:t>
            </a:r>
            <a:r>
              <a:rPr lang="en-US" altLang="en-US" dirty="0" smtClean="0">
                <a:solidFill>
                  <a:srgbClr val="002060"/>
                </a:solidFill>
                <a:ea typeface="ＭＳ Ｐゴシック" panose="020B0600070205080204" pitchFamily="34" charset="-128"/>
              </a:rPr>
              <a:t>May </a:t>
            </a:r>
            <a:r>
              <a:rPr lang="en-US" altLang="en-US" dirty="0">
                <a:solidFill>
                  <a:srgbClr val="002060"/>
                </a:solidFill>
                <a:ea typeface="ＭＳ Ｐゴシック" panose="020B0600070205080204" pitchFamily="34" charset="-128"/>
              </a:rPr>
              <a:t>have</a:t>
            </a:r>
            <a:r>
              <a:rPr lang="en-US" altLang="en-US" dirty="0">
                <a:ea typeface="ＭＳ Ｐゴシック" panose="020B0600070205080204" pitchFamily="34" charset="-128"/>
              </a:rPr>
              <a:t> multiple fact tables</a:t>
            </a:r>
          </a:p>
          <a:p>
            <a:r>
              <a:rPr lang="en-US" altLang="en-US" dirty="0">
                <a:ea typeface="ＭＳ Ｐゴシック" panose="020B0600070205080204" pitchFamily="34" charset="-128"/>
              </a:rPr>
              <a:t>Typically</a:t>
            </a:r>
          </a:p>
          <a:p>
            <a:pPr lvl="1"/>
            <a:r>
              <a:rPr lang="en-US" altLang="en-US" dirty="0">
                <a:ea typeface="ＭＳ Ｐゴシック" panose="020B0600070205080204" pitchFamily="34" charset="-128"/>
              </a:rPr>
              <a:t>fact table joined with dimension tables and then </a:t>
            </a:r>
          </a:p>
          <a:p>
            <a:pPr lvl="1"/>
            <a:r>
              <a:rPr lang="en-US" altLang="en-US" dirty="0">
                <a:ea typeface="ＭＳ Ｐゴシック" panose="020B0600070205080204" pitchFamily="34" charset="-128"/>
              </a:rPr>
              <a:t>group-by on dimension table attributes, and then </a:t>
            </a:r>
          </a:p>
          <a:p>
            <a:pPr lvl="1"/>
            <a:r>
              <a:rPr lang="en-US" altLang="en-US" dirty="0">
                <a:ea typeface="ＭＳ Ｐゴシック" panose="020B0600070205080204" pitchFamily="34" charset="-128"/>
              </a:rPr>
              <a:t>aggregation on measure attributes of fact </a:t>
            </a:r>
            <a:r>
              <a:rPr lang="en-US" altLang="en-US" dirty="0" smtClean="0">
                <a:ea typeface="ＭＳ Ｐゴシック" panose="020B0600070205080204" pitchFamily="34" charset="-128"/>
              </a:rPr>
              <a:t>table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3232065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4294967295"/>
          </p:nvPr>
        </p:nvSpPr>
        <p:spPr bwMode="auto">
          <a:xfrm>
            <a:off x="7239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fld id="{70324E42-424C-427E-AB58-B506FE74D5BA}" type="slidenum">
              <a:rPr lang="en-US"/>
              <a:pPr/>
              <a:t>6</a:t>
            </a:fld>
            <a:endParaRPr lang="en-US"/>
          </a:p>
        </p:txBody>
      </p:sp>
      <p:sp>
        <p:nvSpPr>
          <p:cNvPr id="33795" name="Rectangle 1026"/>
          <p:cNvSpPr>
            <a:spLocks noGrp="1" noChangeArrowheads="1"/>
          </p:cNvSpPr>
          <p:nvPr>
            <p:ph type="title"/>
          </p:nvPr>
        </p:nvSpPr>
        <p:spPr>
          <a:xfrm>
            <a:off x="1676400" y="381000"/>
            <a:ext cx="5486400" cy="838200"/>
          </a:xfrm>
        </p:spPr>
        <p:txBody>
          <a:bodyPr lIns="92075" tIns="46038" rIns="92075" bIns="46038" anchor="ctr"/>
          <a:lstStyle/>
          <a:p>
            <a:pPr eaLnBrk="1" hangingPunct="1">
              <a:defRPr/>
            </a:pPr>
            <a:r>
              <a:rPr lang="en-US" smtClean="0"/>
              <a:t>Conceptual Modeling of Data Warehouses</a:t>
            </a:r>
          </a:p>
        </p:txBody>
      </p:sp>
      <p:sp>
        <p:nvSpPr>
          <p:cNvPr id="16388" name="Rectangle 1027"/>
          <p:cNvSpPr>
            <a:spLocks noGrp="1" noChangeArrowheads="1"/>
          </p:cNvSpPr>
          <p:nvPr>
            <p:ph type="body" idx="1"/>
          </p:nvPr>
        </p:nvSpPr>
        <p:spPr>
          <a:xfrm>
            <a:off x="533400" y="1600200"/>
            <a:ext cx="8382000" cy="4857750"/>
          </a:xfrm>
        </p:spPr>
        <p:txBody>
          <a:bodyPr lIns="92075" tIns="46038" rIns="92075" bIns="46038"/>
          <a:lstStyle/>
          <a:p>
            <a:pPr eaLnBrk="1" hangingPunct="1">
              <a:lnSpc>
                <a:spcPct val="130000"/>
              </a:lnSpc>
              <a:defRPr/>
            </a:pPr>
            <a:r>
              <a:rPr lang="en-US" sz="1800" dirty="0" smtClean="0">
                <a:solidFill>
                  <a:schemeClr val="bg1">
                    <a:lumMod val="10000"/>
                  </a:schemeClr>
                </a:solidFill>
              </a:rPr>
              <a:t>Modeling data warehouses: dimensions and  measures</a:t>
            </a:r>
          </a:p>
          <a:p>
            <a:pPr lvl="1" eaLnBrk="1" hangingPunct="1">
              <a:lnSpc>
                <a:spcPct val="130000"/>
              </a:lnSpc>
              <a:spcBef>
                <a:spcPct val="10000"/>
              </a:spcBef>
              <a:defRPr/>
            </a:pPr>
            <a:r>
              <a:rPr lang="en-US" sz="1800" u="sng" dirty="0" smtClean="0">
                <a:solidFill>
                  <a:schemeClr val="bg1">
                    <a:lumMod val="10000"/>
                  </a:schemeClr>
                </a:solidFill>
              </a:rPr>
              <a:t>Star schema</a:t>
            </a:r>
            <a:r>
              <a:rPr lang="en-US" sz="1800" dirty="0" smtClean="0">
                <a:solidFill>
                  <a:schemeClr val="bg1">
                    <a:lumMod val="10000"/>
                  </a:schemeClr>
                </a:solidFill>
              </a:rPr>
              <a:t>: A fact table in the middle connected to a set of dimension tables </a:t>
            </a:r>
          </a:p>
          <a:p>
            <a:pPr lvl="1" eaLnBrk="1" hangingPunct="1">
              <a:lnSpc>
                <a:spcPct val="130000"/>
              </a:lnSpc>
              <a:spcBef>
                <a:spcPct val="10000"/>
              </a:spcBef>
              <a:defRPr/>
            </a:pPr>
            <a:r>
              <a:rPr lang="en-US" sz="1800" u="sng" dirty="0" smtClean="0">
                <a:solidFill>
                  <a:schemeClr val="bg1">
                    <a:lumMod val="10000"/>
                  </a:schemeClr>
                </a:solidFill>
              </a:rPr>
              <a:t>Snowflake schema</a:t>
            </a:r>
            <a:r>
              <a:rPr lang="en-US" sz="1800" dirty="0" smtClean="0">
                <a:solidFill>
                  <a:schemeClr val="bg1">
                    <a:lumMod val="10000"/>
                  </a:schemeClr>
                </a:solidFill>
              </a:rPr>
              <a:t>:  A refinement of star schema where some dimensional hierarchy is normalized into a set of smaller dimension tables, forming a shape similar to snowflake</a:t>
            </a:r>
          </a:p>
          <a:p>
            <a:pPr lvl="1" eaLnBrk="1" hangingPunct="1">
              <a:lnSpc>
                <a:spcPct val="130000"/>
              </a:lnSpc>
              <a:spcBef>
                <a:spcPct val="10000"/>
              </a:spcBef>
              <a:defRPr/>
            </a:pPr>
            <a:r>
              <a:rPr lang="en-US" sz="1800" u="sng" dirty="0" smtClean="0">
                <a:solidFill>
                  <a:schemeClr val="bg1">
                    <a:lumMod val="10000"/>
                  </a:schemeClr>
                </a:solidFill>
              </a:rPr>
              <a:t>Fact constellations</a:t>
            </a:r>
            <a:r>
              <a:rPr lang="en-US" sz="1800" dirty="0" smtClean="0">
                <a:solidFill>
                  <a:schemeClr val="bg1">
                    <a:lumMod val="10000"/>
                  </a:schemeClr>
                </a:solidFill>
              </a:rPr>
              <a:t>:  Multiple fact tables share dimension tables, viewed as a collection of stars, therefore called galaxy schema or fact constellation </a:t>
            </a:r>
          </a:p>
        </p:txBody>
      </p:sp>
    </p:spTree>
    <p:extLst>
      <p:ext uri="{BB962C8B-B14F-4D97-AF65-F5344CB8AC3E}">
        <p14:creationId xmlns:p14="http://schemas.microsoft.com/office/powerpoint/2010/main" val="1018953690"/>
      </p:ext>
    </p:extLst>
  </p:cSld>
  <p:clrMapOvr>
    <a:masterClrMapping/>
  </p:clrMapOvr>
  <p:transition>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4294967295"/>
          </p:nvPr>
        </p:nvSpPr>
        <p:spPr bwMode="auto">
          <a:xfrm>
            <a:off x="7239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fld id="{BFB5336B-13E4-4813-98A5-0A53F015EAA4}" type="slidenum">
              <a:rPr lang="en-US"/>
              <a:pPr/>
              <a:t>7</a:t>
            </a:fld>
            <a:endParaRPr lang="en-US"/>
          </a:p>
        </p:txBody>
      </p:sp>
      <p:sp>
        <p:nvSpPr>
          <p:cNvPr id="34819" name="Rectangle 2"/>
          <p:cNvSpPr>
            <a:spLocks noGrp="1" noChangeArrowheads="1"/>
          </p:cNvSpPr>
          <p:nvPr>
            <p:ph type="title"/>
          </p:nvPr>
        </p:nvSpPr>
        <p:spPr>
          <a:xfrm>
            <a:off x="1249363" y="782638"/>
            <a:ext cx="7226300" cy="442912"/>
          </a:xfrm>
        </p:spPr>
        <p:txBody>
          <a:bodyPr/>
          <a:lstStyle/>
          <a:p>
            <a:pPr eaLnBrk="1" hangingPunct="1">
              <a:defRPr/>
            </a:pPr>
            <a:r>
              <a:rPr lang="en-US" smtClean="0"/>
              <a:t>Example of Star Schema</a:t>
            </a:r>
            <a:endParaRPr lang="en-US" sz="2800" smtClean="0"/>
          </a:p>
        </p:txBody>
      </p:sp>
      <p:sp>
        <p:nvSpPr>
          <p:cNvPr id="17412" name="Rectangle 5"/>
          <p:cNvSpPr>
            <a:spLocks noChangeArrowheads="1"/>
          </p:cNvSpPr>
          <p:nvPr/>
        </p:nvSpPr>
        <p:spPr bwMode="auto">
          <a:xfrm>
            <a:off x="3548063" y="3162300"/>
            <a:ext cx="2065337"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17413" name="Group 6"/>
          <p:cNvGrpSpPr>
            <a:grpSpLocks/>
          </p:cNvGrpSpPr>
          <p:nvPr/>
        </p:nvGrpSpPr>
        <p:grpSpPr bwMode="auto">
          <a:xfrm>
            <a:off x="304800" y="1295400"/>
            <a:ext cx="1819275" cy="2163763"/>
            <a:chOff x="277" y="1164"/>
            <a:chExt cx="1133" cy="1341"/>
          </a:xfrm>
        </p:grpSpPr>
        <p:sp>
          <p:nvSpPr>
            <p:cNvPr id="17445" name="Rectangle 7"/>
            <p:cNvSpPr>
              <a:spLocks noChangeArrowheads="1"/>
            </p:cNvSpPr>
            <p:nvPr/>
          </p:nvSpPr>
          <p:spPr bwMode="auto">
            <a:xfrm>
              <a:off x="277" y="1421"/>
              <a:ext cx="1133" cy="1084"/>
            </a:xfrm>
            <a:prstGeom prst="rect">
              <a:avLst/>
            </a:prstGeom>
            <a:solidFill>
              <a:srgbClr val="00FF99"/>
            </a:solidFill>
            <a:ln w="9525">
              <a:solidFill>
                <a:schemeClr val="tx1"/>
              </a:solidFill>
              <a:miter lim="800000"/>
              <a:headEnd/>
              <a:tailEnd/>
            </a:ln>
          </p:spPr>
          <p:txBody>
            <a:bodyPr wrap="none" lIns="92075" tIns="46038" rIns="92075" bIns="46038">
              <a:spAutoFit/>
            </a:bodyPr>
            <a:lstStyle/>
            <a:p>
              <a:r>
                <a:rPr lang="en-US" sz="1800">
                  <a:latin typeface="Times New Roman" charset="0"/>
                </a:rPr>
                <a:t>time_key</a:t>
              </a:r>
            </a:p>
            <a:p>
              <a:r>
                <a:rPr lang="en-US" sz="1800">
                  <a:latin typeface="Times New Roman" charset="0"/>
                </a:rPr>
                <a:t>day</a:t>
              </a:r>
            </a:p>
            <a:p>
              <a:r>
                <a:rPr lang="en-US" sz="1800">
                  <a:latin typeface="Times New Roman" charset="0"/>
                </a:rPr>
                <a:t>day_of_the_week</a:t>
              </a:r>
            </a:p>
            <a:p>
              <a:r>
                <a:rPr lang="en-US" sz="1800">
                  <a:latin typeface="Times New Roman" charset="0"/>
                </a:rPr>
                <a:t>month</a:t>
              </a:r>
            </a:p>
            <a:p>
              <a:r>
                <a:rPr lang="en-US" sz="1800">
                  <a:latin typeface="Times New Roman" charset="0"/>
                </a:rPr>
                <a:t>quarter</a:t>
              </a:r>
            </a:p>
            <a:p>
              <a:r>
                <a:rPr lang="en-US" sz="1800">
                  <a:latin typeface="Times New Roman" charset="0"/>
                </a:rPr>
                <a:t>year</a:t>
              </a:r>
            </a:p>
          </p:txBody>
        </p:sp>
        <p:sp>
          <p:nvSpPr>
            <p:cNvPr id="17446" name="Rectangle 8"/>
            <p:cNvSpPr>
              <a:spLocks noChangeArrowheads="1"/>
            </p:cNvSpPr>
            <p:nvPr/>
          </p:nvSpPr>
          <p:spPr bwMode="auto">
            <a:xfrm>
              <a:off x="277" y="1164"/>
              <a:ext cx="401" cy="252"/>
            </a:xfrm>
            <a:prstGeom prst="rect">
              <a:avLst/>
            </a:prstGeom>
            <a:solidFill>
              <a:srgbClr val="00FF99"/>
            </a:solidFill>
            <a:ln w="9525">
              <a:solidFill>
                <a:schemeClr val="tx1"/>
              </a:solidFill>
              <a:miter lim="800000"/>
              <a:headEnd/>
              <a:tailEnd/>
            </a:ln>
          </p:spPr>
          <p:txBody>
            <a:bodyPr wrap="none" lIns="92075" tIns="46038" rIns="92075" bIns="46038">
              <a:spAutoFit/>
            </a:bodyPr>
            <a:lstStyle/>
            <a:p>
              <a:r>
                <a:rPr lang="en-US" sz="2000">
                  <a:latin typeface="Times New Roman" charset="0"/>
                </a:rPr>
                <a:t>time</a:t>
              </a:r>
            </a:p>
          </p:txBody>
        </p:sp>
      </p:grpSp>
      <p:grpSp>
        <p:nvGrpSpPr>
          <p:cNvPr id="17414" name="Group 9"/>
          <p:cNvGrpSpPr>
            <a:grpSpLocks/>
          </p:cNvGrpSpPr>
          <p:nvPr/>
        </p:nvGrpSpPr>
        <p:grpSpPr bwMode="auto">
          <a:xfrm>
            <a:off x="6604000" y="3867150"/>
            <a:ext cx="1908175" cy="1884363"/>
            <a:chOff x="684" y="2196"/>
            <a:chExt cx="1189" cy="1168"/>
          </a:xfrm>
        </p:grpSpPr>
        <p:sp>
          <p:nvSpPr>
            <p:cNvPr id="17443" name="Rectangle 10"/>
            <p:cNvSpPr>
              <a:spLocks noChangeArrowheads="1"/>
            </p:cNvSpPr>
            <p:nvPr/>
          </p:nvSpPr>
          <p:spPr bwMode="auto">
            <a:xfrm>
              <a:off x="684" y="2450"/>
              <a:ext cx="1189" cy="914"/>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sz="1800">
                  <a:latin typeface="Times New Roman" charset="0"/>
                </a:rPr>
                <a:t>location_key</a:t>
              </a:r>
            </a:p>
            <a:p>
              <a:r>
                <a:rPr lang="en-US" sz="1800">
                  <a:latin typeface="Times New Roman" charset="0"/>
                </a:rPr>
                <a:t>street</a:t>
              </a:r>
            </a:p>
            <a:p>
              <a:r>
                <a:rPr lang="en-US" sz="1800">
                  <a:latin typeface="Times New Roman" charset="0"/>
                </a:rPr>
                <a:t>city</a:t>
              </a:r>
            </a:p>
            <a:p>
              <a:r>
                <a:rPr lang="en-US" sz="1800">
                  <a:latin typeface="Times New Roman" charset="0"/>
                </a:rPr>
                <a:t>province_or_street</a:t>
              </a:r>
            </a:p>
            <a:p>
              <a:r>
                <a:rPr lang="en-US" sz="1800">
                  <a:latin typeface="Times New Roman" charset="0"/>
                </a:rPr>
                <a:t>country</a:t>
              </a:r>
            </a:p>
          </p:txBody>
        </p:sp>
        <p:sp>
          <p:nvSpPr>
            <p:cNvPr id="17444" name="Rectangle 11"/>
            <p:cNvSpPr>
              <a:spLocks noChangeArrowheads="1"/>
            </p:cNvSpPr>
            <p:nvPr/>
          </p:nvSpPr>
          <p:spPr bwMode="auto">
            <a:xfrm>
              <a:off x="684" y="2196"/>
              <a:ext cx="630" cy="252"/>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sz="2000">
                  <a:latin typeface="Times New Roman" charset="0"/>
                </a:rPr>
                <a:t>location</a:t>
              </a:r>
            </a:p>
          </p:txBody>
        </p:sp>
      </p:grpSp>
      <p:sp>
        <p:nvSpPr>
          <p:cNvPr id="17415" name="Rectangle 12"/>
          <p:cNvSpPr>
            <a:spLocks noChangeArrowheads="1"/>
          </p:cNvSpPr>
          <p:nvPr/>
        </p:nvSpPr>
        <p:spPr bwMode="auto">
          <a:xfrm>
            <a:off x="3451225" y="2279650"/>
            <a:ext cx="1860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Sales Fact Table</a:t>
            </a:r>
          </a:p>
        </p:txBody>
      </p:sp>
      <p:sp>
        <p:nvSpPr>
          <p:cNvPr id="17416" name="Rectangle 13"/>
          <p:cNvSpPr>
            <a:spLocks noChangeArrowheads="1"/>
          </p:cNvSpPr>
          <p:nvPr/>
        </p:nvSpPr>
        <p:spPr bwMode="auto">
          <a:xfrm>
            <a:off x="3548063" y="2697163"/>
            <a:ext cx="2065337" cy="4524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17" name="Rectangle 14"/>
          <p:cNvSpPr>
            <a:spLocks noChangeArrowheads="1"/>
          </p:cNvSpPr>
          <p:nvPr/>
        </p:nvSpPr>
        <p:spPr bwMode="auto">
          <a:xfrm>
            <a:off x="3581400" y="2743200"/>
            <a:ext cx="2057400" cy="396875"/>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a:r>
              <a:rPr lang="en-US" sz="2000">
                <a:latin typeface="Times New Roman" charset="0"/>
              </a:rPr>
              <a:t>           time_key</a:t>
            </a:r>
          </a:p>
        </p:txBody>
      </p:sp>
      <p:sp>
        <p:nvSpPr>
          <p:cNvPr id="17418" name="Rectangle 15"/>
          <p:cNvSpPr>
            <a:spLocks noChangeArrowheads="1"/>
          </p:cNvSpPr>
          <p:nvPr/>
        </p:nvSpPr>
        <p:spPr bwMode="auto">
          <a:xfrm>
            <a:off x="3582988" y="3192463"/>
            <a:ext cx="2016125" cy="39687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item_key</a:t>
            </a:r>
          </a:p>
        </p:txBody>
      </p:sp>
      <p:sp>
        <p:nvSpPr>
          <p:cNvPr id="17419" name="Rectangle 16"/>
          <p:cNvSpPr>
            <a:spLocks noChangeArrowheads="1"/>
          </p:cNvSpPr>
          <p:nvPr/>
        </p:nvSpPr>
        <p:spPr bwMode="auto">
          <a:xfrm>
            <a:off x="3548063" y="3627438"/>
            <a:ext cx="2065337"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20" name="Rectangle 17"/>
          <p:cNvSpPr>
            <a:spLocks noChangeArrowheads="1"/>
          </p:cNvSpPr>
          <p:nvPr/>
        </p:nvSpPr>
        <p:spPr bwMode="auto">
          <a:xfrm>
            <a:off x="3582988" y="3638550"/>
            <a:ext cx="2066925"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branch_key</a:t>
            </a:r>
          </a:p>
        </p:txBody>
      </p:sp>
      <p:sp>
        <p:nvSpPr>
          <p:cNvPr id="17421" name="Rectangle 18"/>
          <p:cNvSpPr>
            <a:spLocks noChangeArrowheads="1"/>
          </p:cNvSpPr>
          <p:nvPr/>
        </p:nvSpPr>
        <p:spPr bwMode="auto">
          <a:xfrm>
            <a:off x="3548063" y="4090988"/>
            <a:ext cx="2065337" cy="4524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22" name="Rectangle 19"/>
          <p:cNvSpPr>
            <a:spLocks noChangeArrowheads="1"/>
          </p:cNvSpPr>
          <p:nvPr/>
        </p:nvSpPr>
        <p:spPr bwMode="auto">
          <a:xfrm>
            <a:off x="3581400" y="4114800"/>
            <a:ext cx="2065338" cy="396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location_key</a:t>
            </a:r>
          </a:p>
        </p:txBody>
      </p:sp>
      <p:sp>
        <p:nvSpPr>
          <p:cNvPr id="17423" name="Rectangle 20"/>
          <p:cNvSpPr>
            <a:spLocks noChangeArrowheads="1"/>
          </p:cNvSpPr>
          <p:nvPr/>
        </p:nvSpPr>
        <p:spPr bwMode="auto">
          <a:xfrm>
            <a:off x="3548063" y="4556125"/>
            <a:ext cx="2065337"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24" name="Rectangle 21"/>
          <p:cNvSpPr>
            <a:spLocks noChangeArrowheads="1"/>
          </p:cNvSpPr>
          <p:nvPr/>
        </p:nvSpPr>
        <p:spPr bwMode="auto">
          <a:xfrm>
            <a:off x="3582988" y="4606925"/>
            <a:ext cx="1987550" cy="3968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units_sold</a:t>
            </a:r>
          </a:p>
        </p:txBody>
      </p:sp>
      <p:sp>
        <p:nvSpPr>
          <p:cNvPr id="17425" name="Rectangle 22"/>
          <p:cNvSpPr>
            <a:spLocks noChangeArrowheads="1"/>
          </p:cNvSpPr>
          <p:nvPr/>
        </p:nvSpPr>
        <p:spPr bwMode="auto">
          <a:xfrm>
            <a:off x="3548063" y="5021263"/>
            <a:ext cx="2065337"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26" name="Rectangle 23"/>
          <p:cNvSpPr>
            <a:spLocks noChangeArrowheads="1"/>
          </p:cNvSpPr>
          <p:nvPr/>
        </p:nvSpPr>
        <p:spPr bwMode="auto">
          <a:xfrm>
            <a:off x="3582988" y="5051425"/>
            <a:ext cx="1993900" cy="3968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dollars_sold</a:t>
            </a:r>
          </a:p>
        </p:txBody>
      </p:sp>
      <p:sp>
        <p:nvSpPr>
          <p:cNvPr id="17427" name="Rectangle 24"/>
          <p:cNvSpPr>
            <a:spLocks noChangeArrowheads="1"/>
          </p:cNvSpPr>
          <p:nvPr/>
        </p:nvSpPr>
        <p:spPr bwMode="auto">
          <a:xfrm>
            <a:off x="3548063" y="5486400"/>
            <a:ext cx="2065337"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28" name="Rectangle 25"/>
          <p:cNvSpPr>
            <a:spLocks noChangeArrowheads="1"/>
          </p:cNvSpPr>
          <p:nvPr/>
        </p:nvSpPr>
        <p:spPr bwMode="auto">
          <a:xfrm>
            <a:off x="3563938" y="5497513"/>
            <a:ext cx="1995487" cy="3968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avg_sales</a:t>
            </a:r>
          </a:p>
        </p:txBody>
      </p:sp>
      <p:sp>
        <p:nvSpPr>
          <p:cNvPr id="17429" name="Rectangle 26"/>
          <p:cNvSpPr>
            <a:spLocks noChangeArrowheads="1"/>
          </p:cNvSpPr>
          <p:nvPr/>
        </p:nvSpPr>
        <p:spPr bwMode="auto">
          <a:xfrm>
            <a:off x="2057400" y="5905500"/>
            <a:ext cx="1219200" cy="406400"/>
          </a:xfrm>
          <a:prstGeom prst="rect">
            <a:avLst/>
          </a:prstGeom>
          <a:solidFill>
            <a:srgbClr val="FF99CC"/>
          </a:solidFill>
          <a:ln w="9525">
            <a:solidFill>
              <a:schemeClr val="tx1"/>
            </a:solidFill>
            <a:miter lim="800000"/>
            <a:headEnd/>
            <a:tailEnd/>
          </a:ln>
        </p:spPr>
        <p:txBody>
          <a:bodyPr lIns="92075" tIns="46038" rIns="92075" bIns="46038">
            <a:spAutoFit/>
          </a:bodyPr>
          <a:lstStyle/>
          <a:p>
            <a:pPr>
              <a:spcBef>
                <a:spcPct val="50000"/>
              </a:spcBef>
            </a:pPr>
            <a:r>
              <a:rPr lang="en-US" sz="2000">
                <a:latin typeface="Times New Roman" charset="0"/>
              </a:rPr>
              <a:t>Measures</a:t>
            </a:r>
          </a:p>
        </p:txBody>
      </p:sp>
      <p:sp>
        <p:nvSpPr>
          <p:cNvPr id="17430" name="Line 27"/>
          <p:cNvSpPr>
            <a:spLocks noChangeShapeType="1"/>
          </p:cNvSpPr>
          <p:nvPr/>
        </p:nvSpPr>
        <p:spPr bwMode="auto">
          <a:xfrm flipV="1">
            <a:off x="2771775" y="4781550"/>
            <a:ext cx="769938" cy="1143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1" name="Line 28"/>
          <p:cNvSpPr>
            <a:spLocks noChangeShapeType="1"/>
          </p:cNvSpPr>
          <p:nvPr/>
        </p:nvSpPr>
        <p:spPr bwMode="auto">
          <a:xfrm flipV="1">
            <a:off x="2752725" y="5324475"/>
            <a:ext cx="788988" cy="5619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2" name="Line 29"/>
          <p:cNvSpPr>
            <a:spLocks noChangeShapeType="1"/>
          </p:cNvSpPr>
          <p:nvPr/>
        </p:nvSpPr>
        <p:spPr bwMode="auto">
          <a:xfrm flipV="1">
            <a:off x="2752725" y="5692775"/>
            <a:ext cx="904875" cy="193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3" name="Line 30"/>
          <p:cNvSpPr>
            <a:spLocks noChangeShapeType="1"/>
          </p:cNvSpPr>
          <p:nvPr/>
        </p:nvSpPr>
        <p:spPr bwMode="auto">
          <a:xfrm flipH="1">
            <a:off x="2328863" y="3949700"/>
            <a:ext cx="1193800" cy="735013"/>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34" name="Line 31"/>
          <p:cNvSpPr>
            <a:spLocks noChangeShapeType="1"/>
          </p:cNvSpPr>
          <p:nvPr/>
        </p:nvSpPr>
        <p:spPr bwMode="auto">
          <a:xfrm flipH="1" flipV="1">
            <a:off x="2133600" y="2514600"/>
            <a:ext cx="1446213" cy="485775"/>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5" name="Line 32"/>
          <p:cNvSpPr>
            <a:spLocks noChangeShapeType="1"/>
          </p:cNvSpPr>
          <p:nvPr/>
        </p:nvSpPr>
        <p:spPr bwMode="auto">
          <a:xfrm>
            <a:off x="5580063" y="4356100"/>
            <a:ext cx="1039812" cy="38735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36" name="Line 33"/>
          <p:cNvSpPr>
            <a:spLocks noChangeShapeType="1"/>
          </p:cNvSpPr>
          <p:nvPr/>
        </p:nvSpPr>
        <p:spPr bwMode="auto">
          <a:xfrm flipV="1">
            <a:off x="5580063" y="2709863"/>
            <a:ext cx="1077912" cy="677862"/>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7437" name="Group 34"/>
          <p:cNvGrpSpPr>
            <a:grpSpLocks/>
          </p:cNvGrpSpPr>
          <p:nvPr/>
        </p:nvGrpSpPr>
        <p:grpSpPr bwMode="auto">
          <a:xfrm>
            <a:off x="6610350" y="1600200"/>
            <a:ext cx="1438275" cy="1925638"/>
            <a:chOff x="3796" y="983"/>
            <a:chExt cx="896" cy="1194"/>
          </a:xfrm>
        </p:grpSpPr>
        <p:sp>
          <p:nvSpPr>
            <p:cNvPr id="17441" name="Rectangle 35"/>
            <p:cNvSpPr>
              <a:spLocks noChangeArrowheads="1"/>
            </p:cNvSpPr>
            <p:nvPr/>
          </p:nvSpPr>
          <p:spPr bwMode="auto">
            <a:xfrm>
              <a:off x="3796" y="1262"/>
              <a:ext cx="896" cy="915"/>
            </a:xfrm>
            <a:prstGeom prst="rect">
              <a:avLst/>
            </a:prstGeom>
            <a:solidFill>
              <a:srgbClr val="FFCC99"/>
            </a:solidFill>
            <a:ln w="9525">
              <a:solidFill>
                <a:schemeClr val="tx1"/>
              </a:solidFill>
              <a:miter lim="800000"/>
              <a:headEnd/>
              <a:tailEnd/>
            </a:ln>
          </p:spPr>
          <p:txBody>
            <a:bodyPr wrap="none" lIns="92075" tIns="46038" rIns="92075" bIns="46038">
              <a:spAutoFit/>
            </a:bodyPr>
            <a:lstStyle/>
            <a:p>
              <a:r>
                <a:rPr lang="en-US" sz="1800">
                  <a:latin typeface="Times New Roman" charset="0"/>
                </a:rPr>
                <a:t>item_key</a:t>
              </a:r>
            </a:p>
            <a:p>
              <a:r>
                <a:rPr lang="en-US" sz="1800">
                  <a:latin typeface="Times New Roman" charset="0"/>
                </a:rPr>
                <a:t>item_name</a:t>
              </a:r>
            </a:p>
            <a:p>
              <a:r>
                <a:rPr lang="en-US" sz="1800">
                  <a:latin typeface="Times New Roman" charset="0"/>
                </a:rPr>
                <a:t>brand</a:t>
              </a:r>
            </a:p>
            <a:p>
              <a:r>
                <a:rPr lang="en-US" sz="1800">
                  <a:latin typeface="Times New Roman" charset="0"/>
                </a:rPr>
                <a:t>type</a:t>
              </a:r>
            </a:p>
            <a:p>
              <a:r>
                <a:rPr lang="en-US" sz="1800">
                  <a:latin typeface="Times New Roman" charset="0"/>
                </a:rPr>
                <a:t>supplier_type</a:t>
              </a:r>
            </a:p>
          </p:txBody>
        </p:sp>
        <p:sp>
          <p:nvSpPr>
            <p:cNvPr id="17442" name="Text Box 36"/>
            <p:cNvSpPr txBox="1">
              <a:spLocks noChangeArrowheads="1"/>
            </p:cNvSpPr>
            <p:nvPr/>
          </p:nvSpPr>
          <p:spPr bwMode="auto">
            <a:xfrm>
              <a:off x="3926" y="983"/>
              <a:ext cx="457" cy="289"/>
            </a:xfrm>
            <a:prstGeom prst="rect">
              <a:avLst/>
            </a:prstGeom>
            <a:solidFill>
              <a:srgbClr val="FFCC99"/>
            </a:solidFill>
            <a:ln w="9525">
              <a:solidFill>
                <a:schemeClr val="tx1"/>
              </a:solidFill>
              <a:miter lim="800000"/>
              <a:headEnd/>
              <a:tailEnd/>
            </a:ln>
          </p:spPr>
          <p:txBody>
            <a:bodyPr wrap="none" anchor="ctr">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2400">
                  <a:latin typeface="Times New Roman" charset="0"/>
                </a:rPr>
                <a:t>item</a:t>
              </a:r>
            </a:p>
          </p:txBody>
        </p:sp>
      </p:grpSp>
      <p:grpSp>
        <p:nvGrpSpPr>
          <p:cNvPr id="17438" name="Group 37"/>
          <p:cNvGrpSpPr>
            <a:grpSpLocks/>
          </p:cNvGrpSpPr>
          <p:nvPr/>
        </p:nvGrpSpPr>
        <p:grpSpPr bwMode="auto">
          <a:xfrm>
            <a:off x="838200" y="3886200"/>
            <a:ext cx="1509713" cy="1393825"/>
            <a:chOff x="3844" y="2426"/>
            <a:chExt cx="939" cy="864"/>
          </a:xfrm>
        </p:grpSpPr>
        <p:sp>
          <p:nvSpPr>
            <p:cNvPr id="17439" name="Rectangle 38"/>
            <p:cNvSpPr>
              <a:spLocks noChangeArrowheads="1"/>
            </p:cNvSpPr>
            <p:nvPr/>
          </p:nvSpPr>
          <p:spPr bwMode="auto">
            <a:xfrm>
              <a:off x="3896" y="2716"/>
              <a:ext cx="887" cy="574"/>
            </a:xfrm>
            <a:prstGeom prst="rect">
              <a:avLst/>
            </a:prstGeom>
            <a:solidFill>
              <a:srgbClr val="CCECFF"/>
            </a:solidFill>
            <a:ln w="9525">
              <a:solidFill>
                <a:schemeClr val="tx1"/>
              </a:solidFill>
              <a:miter lim="800000"/>
              <a:headEnd/>
              <a:tailEnd/>
            </a:ln>
          </p:spPr>
          <p:txBody>
            <a:bodyPr wrap="none" lIns="92075" tIns="46038" rIns="92075" bIns="46038">
              <a:spAutoFit/>
            </a:bodyPr>
            <a:lstStyle/>
            <a:p>
              <a:r>
                <a:rPr lang="en-US" sz="1800">
                  <a:latin typeface="Times New Roman" charset="0"/>
                </a:rPr>
                <a:t>branch_key</a:t>
              </a:r>
            </a:p>
            <a:p>
              <a:r>
                <a:rPr lang="en-US" sz="1800">
                  <a:latin typeface="Times New Roman" charset="0"/>
                </a:rPr>
                <a:t>branch_name</a:t>
              </a:r>
            </a:p>
            <a:p>
              <a:r>
                <a:rPr lang="en-US" sz="1800">
                  <a:latin typeface="Times New Roman" charset="0"/>
                </a:rPr>
                <a:t>branch_type</a:t>
              </a:r>
            </a:p>
          </p:txBody>
        </p:sp>
        <p:sp>
          <p:nvSpPr>
            <p:cNvPr id="17440" name="Text Box 39"/>
            <p:cNvSpPr txBox="1">
              <a:spLocks noChangeArrowheads="1"/>
            </p:cNvSpPr>
            <p:nvPr/>
          </p:nvSpPr>
          <p:spPr bwMode="auto">
            <a:xfrm>
              <a:off x="3844" y="2426"/>
              <a:ext cx="637" cy="289"/>
            </a:xfrm>
            <a:prstGeom prst="rect">
              <a:avLst/>
            </a:prstGeom>
            <a:solidFill>
              <a:srgbClr val="CCECFF"/>
            </a:solidFill>
            <a:ln w="9525">
              <a:solidFill>
                <a:schemeClr val="tx1"/>
              </a:solidFill>
              <a:miter lim="800000"/>
              <a:headEnd/>
              <a:tailEnd/>
            </a:ln>
          </p:spPr>
          <p:txBody>
            <a:bodyPr wrap="none">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2400">
                  <a:latin typeface="Times New Roman" charset="0"/>
                </a:rPr>
                <a:t>branch</a:t>
              </a:r>
            </a:p>
          </p:txBody>
        </p:sp>
      </p:grpSp>
    </p:spTree>
    <p:extLst>
      <p:ext uri="{BB962C8B-B14F-4D97-AF65-F5344CB8AC3E}">
        <p14:creationId xmlns:p14="http://schemas.microsoft.com/office/powerpoint/2010/main" val="1227302764"/>
      </p:ext>
    </p:extLst>
  </p:cSld>
  <p:clrMapOvr>
    <a:masterClrMapping/>
  </p:clrMapOvr>
  <p:transition>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4294967295"/>
          </p:nvPr>
        </p:nvSpPr>
        <p:spPr bwMode="auto">
          <a:xfrm>
            <a:off x="7239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fld id="{31DF1DAB-BC72-492F-A472-49E2E9E0D9A5}" type="slidenum">
              <a:rPr lang="en-US"/>
              <a:pPr/>
              <a:t>8</a:t>
            </a:fld>
            <a:endParaRPr lang="en-US"/>
          </a:p>
        </p:txBody>
      </p:sp>
      <p:sp>
        <p:nvSpPr>
          <p:cNvPr id="35843" name="Rectangle 2050"/>
          <p:cNvSpPr>
            <a:spLocks noGrp="1" noChangeArrowheads="1"/>
          </p:cNvSpPr>
          <p:nvPr>
            <p:ph type="title"/>
          </p:nvPr>
        </p:nvSpPr>
        <p:spPr>
          <a:xfrm>
            <a:off x="1249363" y="782638"/>
            <a:ext cx="7226300" cy="442912"/>
          </a:xfrm>
        </p:spPr>
        <p:txBody>
          <a:bodyPr/>
          <a:lstStyle/>
          <a:p>
            <a:pPr eaLnBrk="1" hangingPunct="1">
              <a:defRPr/>
            </a:pPr>
            <a:r>
              <a:rPr lang="en-US" smtClean="0"/>
              <a:t>Example of Snowflake Schema</a:t>
            </a:r>
          </a:p>
        </p:txBody>
      </p:sp>
      <p:sp>
        <p:nvSpPr>
          <p:cNvPr id="18436" name="Rectangle 2052"/>
          <p:cNvSpPr>
            <a:spLocks noChangeArrowheads="1"/>
          </p:cNvSpPr>
          <p:nvPr/>
        </p:nvSpPr>
        <p:spPr bwMode="auto">
          <a:xfrm>
            <a:off x="3317875" y="3105150"/>
            <a:ext cx="2065338"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18437" name="Group 2053"/>
          <p:cNvGrpSpPr>
            <a:grpSpLocks/>
          </p:cNvGrpSpPr>
          <p:nvPr/>
        </p:nvGrpSpPr>
        <p:grpSpPr bwMode="auto">
          <a:xfrm>
            <a:off x="304800" y="1295400"/>
            <a:ext cx="1819275" cy="2163763"/>
            <a:chOff x="277" y="1164"/>
            <a:chExt cx="1133" cy="1341"/>
          </a:xfrm>
        </p:grpSpPr>
        <p:sp>
          <p:nvSpPr>
            <p:cNvPr id="18477" name="Rectangle 2054"/>
            <p:cNvSpPr>
              <a:spLocks noChangeArrowheads="1"/>
            </p:cNvSpPr>
            <p:nvPr/>
          </p:nvSpPr>
          <p:spPr bwMode="auto">
            <a:xfrm>
              <a:off x="277" y="1421"/>
              <a:ext cx="1133" cy="1084"/>
            </a:xfrm>
            <a:prstGeom prst="rect">
              <a:avLst/>
            </a:prstGeom>
            <a:solidFill>
              <a:srgbClr val="00FF99"/>
            </a:solidFill>
            <a:ln w="9525">
              <a:solidFill>
                <a:schemeClr val="tx1"/>
              </a:solidFill>
              <a:miter lim="800000"/>
              <a:headEnd/>
              <a:tailEnd/>
            </a:ln>
          </p:spPr>
          <p:txBody>
            <a:bodyPr wrap="none" lIns="92075" tIns="46038" rIns="92075" bIns="46038">
              <a:spAutoFit/>
            </a:bodyPr>
            <a:lstStyle/>
            <a:p>
              <a:r>
                <a:rPr lang="en-US" sz="1800">
                  <a:latin typeface="Times New Roman" charset="0"/>
                </a:rPr>
                <a:t>time_key</a:t>
              </a:r>
            </a:p>
            <a:p>
              <a:r>
                <a:rPr lang="en-US" sz="1800">
                  <a:latin typeface="Times New Roman" charset="0"/>
                </a:rPr>
                <a:t>day</a:t>
              </a:r>
            </a:p>
            <a:p>
              <a:r>
                <a:rPr lang="en-US" sz="1800">
                  <a:latin typeface="Times New Roman" charset="0"/>
                </a:rPr>
                <a:t>day_of_the_week</a:t>
              </a:r>
            </a:p>
            <a:p>
              <a:r>
                <a:rPr lang="en-US" sz="1800">
                  <a:latin typeface="Times New Roman" charset="0"/>
                </a:rPr>
                <a:t>month</a:t>
              </a:r>
            </a:p>
            <a:p>
              <a:r>
                <a:rPr lang="en-US" sz="1800">
                  <a:latin typeface="Times New Roman" charset="0"/>
                </a:rPr>
                <a:t>quarter</a:t>
              </a:r>
            </a:p>
            <a:p>
              <a:r>
                <a:rPr lang="en-US" sz="1800">
                  <a:latin typeface="Times New Roman" charset="0"/>
                </a:rPr>
                <a:t>year</a:t>
              </a:r>
            </a:p>
          </p:txBody>
        </p:sp>
        <p:sp>
          <p:nvSpPr>
            <p:cNvPr id="18478" name="Rectangle 2055"/>
            <p:cNvSpPr>
              <a:spLocks noChangeArrowheads="1"/>
            </p:cNvSpPr>
            <p:nvPr/>
          </p:nvSpPr>
          <p:spPr bwMode="auto">
            <a:xfrm>
              <a:off x="277" y="1164"/>
              <a:ext cx="401" cy="252"/>
            </a:xfrm>
            <a:prstGeom prst="rect">
              <a:avLst/>
            </a:prstGeom>
            <a:solidFill>
              <a:srgbClr val="00FF99"/>
            </a:solidFill>
            <a:ln w="9525">
              <a:solidFill>
                <a:schemeClr val="tx1"/>
              </a:solidFill>
              <a:miter lim="800000"/>
              <a:headEnd/>
              <a:tailEnd/>
            </a:ln>
          </p:spPr>
          <p:txBody>
            <a:bodyPr wrap="none" lIns="92075" tIns="46038" rIns="92075" bIns="46038">
              <a:spAutoFit/>
            </a:bodyPr>
            <a:lstStyle/>
            <a:p>
              <a:r>
                <a:rPr lang="en-US" sz="2000">
                  <a:latin typeface="Times New Roman" charset="0"/>
                </a:rPr>
                <a:t>time</a:t>
              </a:r>
            </a:p>
          </p:txBody>
        </p:sp>
      </p:grpSp>
      <p:grpSp>
        <p:nvGrpSpPr>
          <p:cNvPr id="18438" name="Group 2056"/>
          <p:cNvGrpSpPr>
            <a:grpSpLocks/>
          </p:cNvGrpSpPr>
          <p:nvPr/>
        </p:nvGrpSpPr>
        <p:grpSpPr bwMode="auto">
          <a:xfrm>
            <a:off x="5867400" y="3810000"/>
            <a:ext cx="1374775" cy="1331913"/>
            <a:chOff x="684" y="2196"/>
            <a:chExt cx="1298" cy="834"/>
          </a:xfrm>
        </p:grpSpPr>
        <p:sp>
          <p:nvSpPr>
            <p:cNvPr id="18475" name="Rectangle 2057"/>
            <p:cNvSpPr>
              <a:spLocks noChangeArrowheads="1"/>
            </p:cNvSpPr>
            <p:nvPr/>
          </p:nvSpPr>
          <p:spPr bwMode="auto">
            <a:xfrm>
              <a:off x="684" y="2450"/>
              <a:ext cx="1298" cy="580"/>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sz="1800">
                  <a:latin typeface="Times New Roman" charset="0"/>
                </a:rPr>
                <a:t>location_key</a:t>
              </a:r>
            </a:p>
            <a:p>
              <a:r>
                <a:rPr lang="en-US" sz="1800">
                  <a:latin typeface="Times New Roman" charset="0"/>
                </a:rPr>
                <a:t>street</a:t>
              </a:r>
            </a:p>
            <a:p>
              <a:r>
                <a:rPr lang="en-US" sz="1800">
                  <a:latin typeface="Times New Roman" charset="0"/>
                </a:rPr>
                <a:t>city_key</a:t>
              </a:r>
            </a:p>
          </p:txBody>
        </p:sp>
        <p:sp>
          <p:nvSpPr>
            <p:cNvPr id="18476" name="Rectangle 2058"/>
            <p:cNvSpPr>
              <a:spLocks noChangeArrowheads="1"/>
            </p:cNvSpPr>
            <p:nvPr/>
          </p:nvSpPr>
          <p:spPr bwMode="auto">
            <a:xfrm>
              <a:off x="684" y="2196"/>
              <a:ext cx="953" cy="254"/>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sz="2000">
                  <a:latin typeface="Times New Roman" charset="0"/>
                </a:rPr>
                <a:t>location</a:t>
              </a:r>
            </a:p>
          </p:txBody>
        </p:sp>
      </p:grpSp>
      <p:sp>
        <p:nvSpPr>
          <p:cNvPr id="18439" name="Rectangle 2059"/>
          <p:cNvSpPr>
            <a:spLocks noChangeArrowheads="1"/>
          </p:cNvSpPr>
          <p:nvPr/>
        </p:nvSpPr>
        <p:spPr bwMode="auto">
          <a:xfrm>
            <a:off x="3275013" y="2152650"/>
            <a:ext cx="1860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Sales Fact Table</a:t>
            </a:r>
          </a:p>
        </p:txBody>
      </p:sp>
      <p:sp>
        <p:nvSpPr>
          <p:cNvPr id="18440" name="Rectangle 2060"/>
          <p:cNvSpPr>
            <a:spLocks noChangeArrowheads="1"/>
          </p:cNvSpPr>
          <p:nvPr/>
        </p:nvSpPr>
        <p:spPr bwMode="auto">
          <a:xfrm>
            <a:off x="3317875" y="2640013"/>
            <a:ext cx="2065338" cy="4524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1" name="Rectangle 2061"/>
          <p:cNvSpPr>
            <a:spLocks noChangeArrowheads="1"/>
          </p:cNvSpPr>
          <p:nvPr/>
        </p:nvSpPr>
        <p:spPr bwMode="auto">
          <a:xfrm>
            <a:off x="3351213" y="2686050"/>
            <a:ext cx="2057400" cy="396875"/>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a:r>
              <a:rPr lang="en-US" sz="2000">
                <a:latin typeface="Times New Roman" charset="0"/>
              </a:rPr>
              <a:t>           time_key</a:t>
            </a:r>
          </a:p>
        </p:txBody>
      </p:sp>
      <p:sp>
        <p:nvSpPr>
          <p:cNvPr id="18442" name="Rectangle 2062"/>
          <p:cNvSpPr>
            <a:spLocks noChangeArrowheads="1"/>
          </p:cNvSpPr>
          <p:nvPr/>
        </p:nvSpPr>
        <p:spPr bwMode="auto">
          <a:xfrm>
            <a:off x="3352800" y="3135313"/>
            <a:ext cx="2016125" cy="39687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item_key</a:t>
            </a:r>
          </a:p>
        </p:txBody>
      </p:sp>
      <p:sp>
        <p:nvSpPr>
          <p:cNvPr id="18443" name="Rectangle 2063"/>
          <p:cNvSpPr>
            <a:spLocks noChangeArrowheads="1"/>
          </p:cNvSpPr>
          <p:nvPr/>
        </p:nvSpPr>
        <p:spPr bwMode="auto">
          <a:xfrm>
            <a:off x="3317875" y="3570288"/>
            <a:ext cx="2065338"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Rectangle 2064"/>
          <p:cNvSpPr>
            <a:spLocks noChangeArrowheads="1"/>
          </p:cNvSpPr>
          <p:nvPr/>
        </p:nvSpPr>
        <p:spPr bwMode="auto">
          <a:xfrm>
            <a:off x="3352800" y="3581400"/>
            <a:ext cx="2066925"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branch_key</a:t>
            </a:r>
          </a:p>
        </p:txBody>
      </p:sp>
      <p:sp>
        <p:nvSpPr>
          <p:cNvPr id="18445" name="Rectangle 2065"/>
          <p:cNvSpPr>
            <a:spLocks noChangeArrowheads="1"/>
          </p:cNvSpPr>
          <p:nvPr/>
        </p:nvSpPr>
        <p:spPr bwMode="auto">
          <a:xfrm>
            <a:off x="3317875" y="4033838"/>
            <a:ext cx="2065338" cy="45243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Rectangle 2066"/>
          <p:cNvSpPr>
            <a:spLocks noChangeArrowheads="1"/>
          </p:cNvSpPr>
          <p:nvPr/>
        </p:nvSpPr>
        <p:spPr bwMode="auto">
          <a:xfrm>
            <a:off x="3351213" y="4057650"/>
            <a:ext cx="2065337" cy="396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location_key</a:t>
            </a:r>
          </a:p>
        </p:txBody>
      </p:sp>
      <p:sp>
        <p:nvSpPr>
          <p:cNvPr id="18447" name="Rectangle 2067"/>
          <p:cNvSpPr>
            <a:spLocks noChangeArrowheads="1"/>
          </p:cNvSpPr>
          <p:nvPr/>
        </p:nvSpPr>
        <p:spPr bwMode="auto">
          <a:xfrm>
            <a:off x="3317875" y="4498975"/>
            <a:ext cx="2065338"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Rectangle 2068"/>
          <p:cNvSpPr>
            <a:spLocks noChangeArrowheads="1"/>
          </p:cNvSpPr>
          <p:nvPr/>
        </p:nvSpPr>
        <p:spPr bwMode="auto">
          <a:xfrm>
            <a:off x="3352800" y="4549775"/>
            <a:ext cx="1987550" cy="3968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units_sold</a:t>
            </a:r>
          </a:p>
        </p:txBody>
      </p:sp>
      <p:sp>
        <p:nvSpPr>
          <p:cNvPr id="18449" name="Rectangle 2069"/>
          <p:cNvSpPr>
            <a:spLocks noChangeArrowheads="1"/>
          </p:cNvSpPr>
          <p:nvPr/>
        </p:nvSpPr>
        <p:spPr bwMode="auto">
          <a:xfrm>
            <a:off x="3317875" y="4964113"/>
            <a:ext cx="2065338"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0" name="Rectangle 2070"/>
          <p:cNvSpPr>
            <a:spLocks noChangeArrowheads="1"/>
          </p:cNvSpPr>
          <p:nvPr/>
        </p:nvSpPr>
        <p:spPr bwMode="auto">
          <a:xfrm>
            <a:off x="3352800" y="4994275"/>
            <a:ext cx="1993900" cy="3968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dollars_sold</a:t>
            </a:r>
          </a:p>
        </p:txBody>
      </p:sp>
      <p:sp>
        <p:nvSpPr>
          <p:cNvPr id="18451" name="Rectangle 2071"/>
          <p:cNvSpPr>
            <a:spLocks noChangeArrowheads="1"/>
          </p:cNvSpPr>
          <p:nvPr/>
        </p:nvSpPr>
        <p:spPr bwMode="auto">
          <a:xfrm>
            <a:off x="3317875" y="5429250"/>
            <a:ext cx="2065338"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52" name="Rectangle 2072"/>
          <p:cNvSpPr>
            <a:spLocks noChangeArrowheads="1"/>
          </p:cNvSpPr>
          <p:nvPr/>
        </p:nvSpPr>
        <p:spPr bwMode="auto">
          <a:xfrm>
            <a:off x="3333750" y="5440363"/>
            <a:ext cx="1995488" cy="3968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2000">
                <a:latin typeface="Times New Roman" charset="0"/>
              </a:rPr>
              <a:t>             avg_sales</a:t>
            </a:r>
          </a:p>
        </p:txBody>
      </p:sp>
      <p:sp>
        <p:nvSpPr>
          <p:cNvPr id="18453" name="Rectangle 2073"/>
          <p:cNvSpPr>
            <a:spLocks noChangeArrowheads="1"/>
          </p:cNvSpPr>
          <p:nvPr/>
        </p:nvSpPr>
        <p:spPr bwMode="auto">
          <a:xfrm>
            <a:off x="1676400" y="5867400"/>
            <a:ext cx="1219200" cy="406400"/>
          </a:xfrm>
          <a:prstGeom prst="rect">
            <a:avLst/>
          </a:prstGeom>
          <a:solidFill>
            <a:srgbClr val="FF99CC"/>
          </a:solidFill>
          <a:ln w="9525">
            <a:solidFill>
              <a:schemeClr val="tx1"/>
            </a:solidFill>
            <a:miter lim="800000"/>
            <a:headEnd/>
            <a:tailEnd/>
          </a:ln>
        </p:spPr>
        <p:txBody>
          <a:bodyPr lIns="92075" tIns="46038" rIns="92075" bIns="46038">
            <a:spAutoFit/>
          </a:bodyPr>
          <a:lstStyle/>
          <a:p>
            <a:pPr>
              <a:spcBef>
                <a:spcPct val="50000"/>
              </a:spcBef>
            </a:pPr>
            <a:r>
              <a:rPr lang="en-US" sz="2000">
                <a:latin typeface="Times New Roman" charset="0"/>
              </a:rPr>
              <a:t>Measures</a:t>
            </a:r>
          </a:p>
        </p:txBody>
      </p:sp>
      <p:sp>
        <p:nvSpPr>
          <p:cNvPr id="18454" name="Line 2074"/>
          <p:cNvSpPr>
            <a:spLocks noChangeShapeType="1"/>
          </p:cNvSpPr>
          <p:nvPr/>
        </p:nvSpPr>
        <p:spPr bwMode="auto">
          <a:xfrm flipV="1">
            <a:off x="2590800" y="4724400"/>
            <a:ext cx="769938" cy="1143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2075"/>
          <p:cNvSpPr>
            <a:spLocks noChangeShapeType="1"/>
          </p:cNvSpPr>
          <p:nvPr/>
        </p:nvSpPr>
        <p:spPr bwMode="auto">
          <a:xfrm flipV="1">
            <a:off x="2571750" y="5267325"/>
            <a:ext cx="788988" cy="5619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076"/>
          <p:cNvSpPr>
            <a:spLocks noChangeShapeType="1"/>
          </p:cNvSpPr>
          <p:nvPr/>
        </p:nvSpPr>
        <p:spPr bwMode="auto">
          <a:xfrm flipV="1">
            <a:off x="2571750" y="5635625"/>
            <a:ext cx="904875" cy="193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2077"/>
          <p:cNvSpPr>
            <a:spLocks noChangeShapeType="1"/>
          </p:cNvSpPr>
          <p:nvPr/>
        </p:nvSpPr>
        <p:spPr bwMode="auto">
          <a:xfrm flipH="1">
            <a:off x="2133600" y="3886200"/>
            <a:ext cx="1193800" cy="735013"/>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2078"/>
          <p:cNvSpPr>
            <a:spLocks noChangeShapeType="1"/>
          </p:cNvSpPr>
          <p:nvPr/>
        </p:nvSpPr>
        <p:spPr bwMode="auto">
          <a:xfrm flipH="1" flipV="1">
            <a:off x="2133600" y="2514600"/>
            <a:ext cx="1446213" cy="485775"/>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2079"/>
          <p:cNvSpPr>
            <a:spLocks noChangeShapeType="1"/>
          </p:cNvSpPr>
          <p:nvPr/>
        </p:nvSpPr>
        <p:spPr bwMode="auto">
          <a:xfrm>
            <a:off x="5410200" y="4267200"/>
            <a:ext cx="457200" cy="53340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60" name="Line 2080"/>
          <p:cNvSpPr>
            <a:spLocks noChangeShapeType="1"/>
          </p:cNvSpPr>
          <p:nvPr/>
        </p:nvSpPr>
        <p:spPr bwMode="auto">
          <a:xfrm flipV="1">
            <a:off x="5334000" y="2819400"/>
            <a:ext cx="609600" cy="53340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8461" name="Group 2081"/>
          <p:cNvGrpSpPr>
            <a:grpSpLocks/>
          </p:cNvGrpSpPr>
          <p:nvPr/>
        </p:nvGrpSpPr>
        <p:grpSpPr bwMode="auto">
          <a:xfrm>
            <a:off x="5943600" y="1524000"/>
            <a:ext cx="1374775" cy="1924050"/>
            <a:chOff x="3796" y="983"/>
            <a:chExt cx="857" cy="1193"/>
          </a:xfrm>
        </p:grpSpPr>
        <p:sp>
          <p:nvSpPr>
            <p:cNvPr id="18473" name="Rectangle 2082"/>
            <p:cNvSpPr>
              <a:spLocks noChangeArrowheads="1"/>
            </p:cNvSpPr>
            <p:nvPr/>
          </p:nvSpPr>
          <p:spPr bwMode="auto">
            <a:xfrm>
              <a:off x="3796" y="1262"/>
              <a:ext cx="857" cy="914"/>
            </a:xfrm>
            <a:prstGeom prst="rect">
              <a:avLst/>
            </a:prstGeom>
            <a:solidFill>
              <a:srgbClr val="FFCC99"/>
            </a:solidFill>
            <a:ln w="9525">
              <a:solidFill>
                <a:schemeClr val="tx1"/>
              </a:solidFill>
              <a:miter lim="800000"/>
              <a:headEnd/>
              <a:tailEnd/>
            </a:ln>
          </p:spPr>
          <p:txBody>
            <a:bodyPr wrap="none" lIns="92075" tIns="46038" rIns="92075" bIns="46038">
              <a:spAutoFit/>
            </a:bodyPr>
            <a:lstStyle/>
            <a:p>
              <a:r>
                <a:rPr lang="en-US" sz="1800">
                  <a:latin typeface="Times New Roman" charset="0"/>
                </a:rPr>
                <a:t>item_key</a:t>
              </a:r>
            </a:p>
            <a:p>
              <a:r>
                <a:rPr lang="en-US" sz="1800">
                  <a:latin typeface="Times New Roman" charset="0"/>
                </a:rPr>
                <a:t>item_name</a:t>
              </a:r>
            </a:p>
            <a:p>
              <a:r>
                <a:rPr lang="en-US" sz="1800">
                  <a:latin typeface="Times New Roman" charset="0"/>
                </a:rPr>
                <a:t>brand</a:t>
              </a:r>
            </a:p>
            <a:p>
              <a:r>
                <a:rPr lang="en-US" sz="1800">
                  <a:latin typeface="Times New Roman" charset="0"/>
                </a:rPr>
                <a:t>type</a:t>
              </a:r>
            </a:p>
            <a:p>
              <a:r>
                <a:rPr lang="en-US" sz="1800">
                  <a:latin typeface="Times New Roman" charset="0"/>
                </a:rPr>
                <a:t>supplier_key</a:t>
              </a:r>
            </a:p>
          </p:txBody>
        </p:sp>
        <p:sp>
          <p:nvSpPr>
            <p:cNvPr id="18474" name="Text Box 2083"/>
            <p:cNvSpPr txBox="1">
              <a:spLocks noChangeArrowheads="1"/>
            </p:cNvSpPr>
            <p:nvPr/>
          </p:nvSpPr>
          <p:spPr bwMode="auto">
            <a:xfrm>
              <a:off x="3926" y="983"/>
              <a:ext cx="457" cy="289"/>
            </a:xfrm>
            <a:prstGeom prst="rect">
              <a:avLst/>
            </a:prstGeom>
            <a:solidFill>
              <a:srgbClr val="FFCC99"/>
            </a:solidFill>
            <a:ln w="9525">
              <a:solidFill>
                <a:schemeClr val="tx1"/>
              </a:solidFill>
              <a:miter lim="800000"/>
              <a:headEnd/>
              <a:tailEnd/>
            </a:ln>
          </p:spPr>
          <p:txBody>
            <a:bodyPr wrap="none" anchor="ctr">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2400">
                  <a:latin typeface="Times New Roman" charset="0"/>
                </a:rPr>
                <a:t>item</a:t>
              </a:r>
            </a:p>
          </p:txBody>
        </p:sp>
      </p:grpSp>
      <p:grpSp>
        <p:nvGrpSpPr>
          <p:cNvPr id="18462" name="Group 2084"/>
          <p:cNvGrpSpPr>
            <a:grpSpLocks/>
          </p:cNvGrpSpPr>
          <p:nvPr/>
        </p:nvGrpSpPr>
        <p:grpSpPr bwMode="auto">
          <a:xfrm>
            <a:off x="609600" y="3886200"/>
            <a:ext cx="1509713" cy="1393825"/>
            <a:chOff x="3844" y="2426"/>
            <a:chExt cx="939" cy="864"/>
          </a:xfrm>
        </p:grpSpPr>
        <p:sp>
          <p:nvSpPr>
            <p:cNvPr id="18471" name="Rectangle 2085"/>
            <p:cNvSpPr>
              <a:spLocks noChangeArrowheads="1"/>
            </p:cNvSpPr>
            <p:nvPr/>
          </p:nvSpPr>
          <p:spPr bwMode="auto">
            <a:xfrm>
              <a:off x="3896" y="2716"/>
              <a:ext cx="887" cy="574"/>
            </a:xfrm>
            <a:prstGeom prst="rect">
              <a:avLst/>
            </a:prstGeom>
            <a:solidFill>
              <a:srgbClr val="CCECFF"/>
            </a:solidFill>
            <a:ln w="9525">
              <a:solidFill>
                <a:schemeClr val="tx1"/>
              </a:solidFill>
              <a:miter lim="800000"/>
              <a:headEnd/>
              <a:tailEnd/>
            </a:ln>
          </p:spPr>
          <p:txBody>
            <a:bodyPr wrap="none" lIns="92075" tIns="46038" rIns="92075" bIns="46038">
              <a:spAutoFit/>
            </a:bodyPr>
            <a:lstStyle/>
            <a:p>
              <a:r>
                <a:rPr lang="en-US" sz="1800">
                  <a:latin typeface="Times New Roman" charset="0"/>
                </a:rPr>
                <a:t>branch_key</a:t>
              </a:r>
            </a:p>
            <a:p>
              <a:r>
                <a:rPr lang="en-US" sz="1800">
                  <a:latin typeface="Times New Roman" charset="0"/>
                </a:rPr>
                <a:t>branch_name</a:t>
              </a:r>
            </a:p>
            <a:p>
              <a:r>
                <a:rPr lang="en-US" sz="1800">
                  <a:latin typeface="Times New Roman" charset="0"/>
                </a:rPr>
                <a:t>branch_type</a:t>
              </a:r>
            </a:p>
          </p:txBody>
        </p:sp>
        <p:sp>
          <p:nvSpPr>
            <p:cNvPr id="18472" name="Text Box 2086"/>
            <p:cNvSpPr txBox="1">
              <a:spLocks noChangeArrowheads="1"/>
            </p:cNvSpPr>
            <p:nvPr/>
          </p:nvSpPr>
          <p:spPr bwMode="auto">
            <a:xfrm>
              <a:off x="3844" y="2426"/>
              <a:ext cx="637" cy="289"/>
            </a:xfrm>
            <a:prstGeom prst="rect">
              <a:avLst/>
            </a:prstGeom>
            <a:solidFill>
              <a:srgbClr val="CCECFF"/>
            </a:solidFill>
            <a:ln w="9525">
              <a:solidFill>
                <a:schemeClr val="tx1"/>
              </a:solidFill>
              <a:miter lim="800000"/>
              <a:headEnd/>
              <a:tailEnd/>
            </a:ln>
          </p:spPr>
          <p:txBody>
            <a:bodyPr wrap="none">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2400">
                  <a:latin typeface="Times New Roman" charset="0"/>
                </a:rPr>
                <a:t>branch</a:t>
              </a:r>
            </a:p>
          </p:txBody>
        </p:sp>
      </p:grpSp>
      <p:grpSp>
        <p:nvGrpSpPr>
          <p:cNvPr id="18463" name="Group 2088"/>
          <p:cNvGrpSpPr>
            <a:grpSpLocks/>
          </p:cNvGrpSpPr>
          <p:nvPr/>
        </p:nvGrpSpPr>
        <p:grpSpPr bwMode="auto">
          <a:xfrm>
            <a:off x="7694613" y="1981200"/>
            <a:ext cx="1449387" cy="998538"/>
            <a:chOff x="3789" y="855"/>
            <a:chExt cx="903" cy="1172"/>
          </a:xfrm>
        </p:grpSpPr>
        <p:sp>
          <p:nvSpPr>
            <p:cNvPr id="18469" name="Rectangle 2089"/>
            <p:cNvSpPr>
              <a:spLocks noChangeArrowheads="1"/>
            </p:cNvSpPr>
            <p:nvPr/>
          </p:nvSpPr>
          <p:spPr bwMode="auto">
            <a:xfrm>
              <a:off x="3796" y="1263"/>
              <a:ext cx="896" cy="764"/>
            </a:xfrm>
            <a:prstGeom prst="rect">
              <a:avLst/>
            </a:prstGeom>
            <a:solidFill>
              <a:srgbClr val="FFCC99"/>
            </a:solidFill>
            <a:ln w="9525">
              <a:solidFill>
                <a:schemeClr val="tx1"/>
              </a:solidFill>
              <a:miter lim="800000"/>
              <a:headEnd/>
              <a:tailEnd/>
            </a:ln>
          </p:spPr>
          <p:txBody>
            <a:bodyPr wrap="none" lIns="92075" tIns="46038" rIns="92075" bIns="46038">
              <a:spAutoFit/>
            </a:bodyPr>
            <a:lstStyle/>
            <a:p>
              <a:r>
                <a:rPr lang="en-US" sz="1800">
                  <a:latin typeface="Times New Roman" charset="0"/>
                </a:rPr>
                <a:t>supplier_key</a:t>
              </a:r>
            </a:p>
            <a:p>
              <a:r>
                <a:rPr lang="en-US" sz="1800">
                  <a:latin typeface="Times New Roman" charset="0"/>
                </a:rPr>
                <a:t>supplier_type</a:t>
              </a:r>
            </a:p>
          </p:txBody>
        </p:sp>
        <p:sp>
          <p:nvSpPr>
            <p:cNvPr id="18470" name="Text Box 2090"/>
            <p:cNvSpPr txBox="1">
              <a:spLocks noChangeArrowheads="1"/>
            </p:cNvSpPr>
            <p:nvPr/>
          </p:nvSpPr>
          <p:spPr bwMode="auto">
            <a:xfrm>
              <a:off x="3789" y="855"/>
              <a:ext cx="732" cy="548"/>
            </a:xfrm>
            <a:prstGeom prst="rect">
              <a:avLst/>
            </a:prstGeom>
            <a:solidFill>
              <a:srgbClr val="FFCC99"/>
            </a:solidFill>
            <a:ln w="9525">
              <a:solidFill>
                <a:schemeClr val="tx1"/>
              </a:solidFill>
              <a:miter lim="800000"/>
              <a:headEnd/>
              <a:tailEnd/>
            </a:ln>
          </p:spPr>
          <p:txBody>
            <a:bodyPr wrap="none" anchor="ctr">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2400">
                  <a:latin typeface="Times New Roman" charset="0"/>
                </a:rPr>
                <a:t>supplier</a:t>
              </a:r>
            </a:p>
          </p:txBody>
        </p:sp>
      </p:grpSp>
      <p:sp>
        <p:nvSpPr>
          <p:cNvPr id="18464" name="Line 2091"/>
          <p:cNvSpPr>
            <a:spLocks noChangeShapeType="1"/>
          </p:cNvSpPr>
          <p:nvPr/>
        </p:nvSpPr>
        <p:spPr bwMode="auto">
          <a:xfrm flipV="1">
            <a:off x="7239000" y="2971800"/>
            <a:ext cx="533400" cy="30480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8465" name="Group 2093"/>
          <p:cNvGrpSpPr>
            <a:grpSpLocks/>
          </p:cNvGrpSpPr>
          <p:nvPr/>
        </p:nvGrpSpPr>
        <p:grpSpPr bwMode="auto">
          <a:xfrm>
            <a:off x="7543800" y="4800600"/>
            <a:ext cx="1722438" cy="1485900"/>
            <a:chOff x="684" y="2196"/>
            <a:chExt cx="1627" cy="930"/>
          </a:xfrm>
        </p:grpSpPr>
        <p:sp>
          <p:nvSpPr>
            <p:cNvPr id="18467" name="Rectangle 2094"/>
            <p:cNvSpPr>
              <a:spLocks noChangeArrowheads="1"/>
            </p:cNvSpPr>
            <p:nvPr/>
          </p:nvSpPr>
          <p:spPr bwMode="auto">
            <a:xfrm>
              <a:off x="684" y="2450"/>
              <a:ext cx="1627" cy="676"/>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a:latin typeface="Times New Roman" charset="0"/>
                </a:rPr>
                <a:t>city_key</a:t>
              </a:r>
            </a:p>
            <a:p>
              <a:r>
                <a:rPr lang="en-US">
                  <a:latin typeface="Times New Roman" charset="0"/>
                </a:rPr>
                <a:t>city</a:t>
              </a:r>
            </a:p>
            <a:p>
              <a:r>
                <a:rPr lang="en-US">
                  <a:latin typeface="Times New Roman" charset="0"/>
                </a:rPr>
                <a:t>province_or_street</a:t>
              </a:r>
            </a:p>
            <a:p>
              <a:r>
                <a:rPr lang="en-US">
                  <a:latin typeface="Times New Roman" charset="0"/>
                </a:rPr>
                <a:t>country</a:t>
              </a:r>
            </a:p>
          </p:txBody>
        </p:sp>
        <p:sp>
          <p:nvSpPr>
            <p:cNvPr id="18468" name="Rectangle 2095"/>
            <p:cNvSpPr>
              <a:spLocks noChangeArrowheads="1"/>
            </p:cNvSpPr>
            <p:nvPr/>
          </p:nvSpPr>
          <p:spPr bwMode="auto">
            <a:xfrm>
              <a:off x="684" y="2196"/>
              <a:ext cx="541" cy="254"/>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sz="2000">
                  <a:latin typeface="Times New Roman" charset="0"/>
                </a:rPr>
                <a:t>city</a:t>
              </a:r>
            </a:p>
          </p:txBody>
        </p:sp>
      </p:grpSp>
      <p:sp>
        <p:nvSpPr>
          <p:cNvPr id="18466" name="Line 2096"/>
          <p:cNvSpPr>
            <a:spLocks noChangeShapeType="1"/>
          </p:cNvSpPr>
          <p:nvPr/>
        </p:nvSpPr>
        <p:spPr bwMode="auto">
          <a:xfrm>
            <a:off x="7162800" y="5105400"/>
            <a:ext cx="457200" cy="53340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292317598"/>
      </p:ext>
    </p:extLst>
  </p:cSld>
  <p:clrMapOvr>
    <a:masterClrMapping/>
  </p:clrMapOvr>
  <p:transition>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4294967295"/>
          </p:nvPr>
        </p:nvSpPr>
        <p:spPr bwMode="auto">
          <a:xfrm>
            <a:off x="7239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fld id="{6169D76E-E3FB-4CBF-9B34-CB66C7130307}" type="slidenum">
              <a:rPr lang="en-US"/>
              <a:pPr/>
              <a:t>9</a:t>
            </a:fld>
            <a:endParaRPr lang="en-US"/>
          </a:p>
        </p:txBody>
      </p:sp>
      <p:sp>
        <p:nvSpPr>
          <p:cNvPr id="36867" name="Rectangle 1026"/>
          <p:cNvSpPr>
            <a:spLocks noGrp="1" noChangeArrowheads="1"/>
          </p:cNvSpPr>
          <p:nvPr>
            <p:ph type="title"/>
          </p:nvPr>
        </p:nvSpPr>
        <p:spPr>
          <a:xfrm>
            <a:off x="1600200" y="381000"/>
            <a:ext cx="6446838" cy="692150"/>
          </a:xfrm>
        </p:spPr>
        <p:txBody>
          <a:bodyPr/>
          <a:lstStyle/>
          <a:p>
            <a:pPr eaLnBrk="1" hangingPunct="1">
              <a:defRPr/>
            </a:pPr>
            <a:r>
              <a:rPr lang="en-US" smtClean="0"/>
              <a:t>Example of Fact Constellation</a:t>
            </a:r>
          </a:p>
        </p:txBody>
      </p:sp>
      <p:sp>
        <p:nvSpPr>
          <p:cNvPr id="19460" name="Rectangle 1028"/>
          <p:cNvSpPr>
            <a:spLocks noChangeArrowheads="1"/>
          </p:cNvSpPr>
          <p:nvPr/>
        </p:nvSpPr>
        <p:spPr bwMode="auto">
          <a:xfrm>
            <a:off x="2895600" y="3048000"/>
            <a:ext cx="1608138"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19461" name="Group 1029"/>
          <p:cNvGrpSpPr>
            <a:grpSpLocks/>
          </p:cNvGrpSpPr>
          <p:nvPr/>
        </p:nvGrpSpPr>
        <p:grpSpPr bwMode="auto">
          <a:xfrm>
            <a:off x="228600" y="1219200"/>
            <a:ext cx="1639888" cy="1982788"/>
            <a:chOff x="277" y="1164"/>
            <a:chExt cx="1021" cy="1229"/>
          </a:xfrm>
        </p:grpSpPr>
        <p:sp>
          <p:nvSpPr>
            <p:cNvPr id="19521" name="Rectangle 1030"/>
            <p:cNvSpPr>
              <a:spLocks noChangeArrowheads="1"/>
            </p:cNvSpPr>
            <p:nvPr/>
          </p:nvSpPr>
          <p:spPr bwMode="auto">
            <a:xfrm>
              <a:off x="277" y="1421"/>
              <a:ext cx="1021" cy="972"/>
            </a:xfrm>
            <a:prstGeom prst="rect">
              <a:avLst/>
            </a:prstGeom>
            <a:solidFill>
              <a:srgbClr val="00FF99"/>
            </a:solidFill>
            <a:ln w="9525">
              <a:solidFill>
                <a:schemeClr val="tx1"/>
              </a:solidFill>
              <a:miter lim="800000"/>
              <a:headEnd/>
              <a:tailEnd/>
            </a:ln>
          </p:spPr>
          <p:txBody>
            <a:bodyPr wrap="none" lIns="92075" tIns="46038" rIns="92075" bIns="46038">
              <a:spAutoFit/>
            </a:bodyPr>
            <a:lstStyle/>
            <a:p>
              <a:r>
                <a:rPr lang="en-US">
                  <a:latin typeface="Times New Roman" charset="0"/>
                </a:rPr>
                <a:t>time_key</a:t>
              </a:r>
            </a:p>
            <a:p>
              <a:r>
                <a:rPr lang="en-US">
                  <a:latin typeface="Times New Roman" charset="0"/>
                </a:rPr>
                <a:t>day</a:t>
              </a:r>
            </a:p>
            <a:p>
              <a:r>
                <a:rPr lang="en-US">
                  <a:latin typeface="Times New Roman" charset="0"/>
                </a:rPr>
                <a:t>day_of_the_week</a:t>
              </a:r>
            </a:p>
            <a:p>
              <a:r>
                <a:rPr lang="en-US">
                  <a:latin typeface="Times New Roman" charset="0"/>
                </a:rPr>
                <a:t>month</a:t>
              </a:r>
            </a:p>
            <a:p>
              <a:r>
                <a:rPr lang="en-US">
                  <a:latin typeface="Times New Roman" charset="0"/>
                </a:rPr>
                <a:t>quarter</a:t>
              </a:r>
            </a:p>
            <a:p>
              <a:r>
                <a:rPr lang="en-US">
                  <a:latin typeface="Times New Roman" charset="0"/>
                </a:rPr>
                <a:t>year</a:t>
              </a:r>
            </a:p>
          </p:txBody>
        </p:sp>
        <p:sp>
          <p:nvSpPr>
            <p:cNvPr id="19522" name="Rectangle 1031"/>
            <p:cNvSpPr>
              <a:spLocks noChangeArrowheads="1"/>
            </p:cNvSpPr>
            <p:nvPr/>
          </p:nvSpPr>
          <p:spPr bwMode="auto">
            <a:xfrm>
              <a:off x="277" y="1164"/>
              <a:ext cx="374" cy="233"/>
            </a:xfrm>
            <a:prstGeom prst="rect">
              <a:avLst/>
            </a:prstGeom>
            <a:solidFill>
              <a:srgbClr val="00FF99"/>
            </a:solidFill>
            <a:ln w="9525">
              <a:solidFill>
                <a:schemeClr val="tx1"/>
              </a:solidFill>
              <a:miter lim="800000"/>
              <a:headEnd/>
              <a:tailEnd/>
            </a:ln>
          </p:spPr>
          <p:txBody>
            <a:bodyPr wrap="none" lIns="92075" tIns="46038" rIns="92075" bIns="46038">
              <a:spAutoFit/>
            </a:bodyPr>
            <a:lstStyle/>
            <a:p>
              <a:r>
                <a:rPr lang="en-US" sz="1800">
                  <a:latin typeface="Times New Roman" charset="0"/>
                </a:rPr>
                <a:t>time</a:t>
              </a:r>
            </a:p>
          </p:txBody>
        </p:sp>
      </p:grpSp>
      <p:grpSp>
        <p:nvGrpSpPr>
          <p:cNvPr id="19462" name="Group 1032"/>
          <p:cNvGrpSpPr>
            <a:grpSpLocks/>
          </p:cNvGrpSpPr>
          <p:nvPr/>
        </p:nvGrpSpPr>
        <p:grpSpPr bwMode="auto">
          <a:xfrm>
            <a:off x="5105400" y="4038600"/>
            <a:ext cx="1722438" cy="1733550"/>
            <a:chOff x="684" y="2196"/>
            <a:chExt cx="1073" cy="1075"/>
          </a:xfrm>
        </p:grpSpPr>
        <p:sp>
          <p:nvSpPr>
            <p:cNvPr id="19519" name="Rectangle 1033"/>
            <p:cNvSpPr>
              <a:spLocks noChangeArrowheads="1"/>
            </p:cNvSpPr>
            <p:nvPr/>
          </p:nvSpPr>
          <p:spPr bwMode="auto">
            <a:xfrm>
              <a:off x="684" y="2450"/>
              <a:ext cx="1073" cy="821"/>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a:latin typeface="Times New Roman" charset="0"/>
                </a:rPr>
                <a:t>location_key</a:t>
              </a:r>
            </a:p>
            <a:p>
              <a:r>
                <a:rPr lang="en-US">
                  <a:latin typeface="Times New Roman" charset="0"/>
                </a:rPr>
                <a:t>street</a:t>
              </a:r>
            </a:p>
            <a:p>
              <a:r>
                <a:rPr lang="en-US">
                  <a:latin typeface="Times New Roman" charset="0"/>
                </a:rPr>
                <a:t>city</a:t>
              </a:r>
            </a:p>
            <a:p>
              <a:r>
                <a:rPr lang="en-US">
                  <a:latin typeface="Times New Roman" charset="0"/>
                </a:rPr>
                <a:t>province_or_street</a:t>
              </a:r>
            </a:p>
            <a:p>
              <a:r>
                <a:rPr lang="en-US">
                  <a:latin typeface="Times New Roman" charset="0"/>
                </a:rPr>
                <a:t>country</a:t>
              </a:r>
            </a:p>
          </p:txBody>
        </p:sp>
        <p:sp>
          <p:nvSpPr>
            <p:cNvPr id="19520" name="Rectangle 1034"/>
            <p:cNvSpPr>
              <a:spLocks noChangeArrowheads="1"/>
            </p:cNvSpPr>
            <p:nvPr/>
          </p:nvSpPr>
          <p:spPr bwMode="auto">
            <a:xfrm>
              <a:off x="684" y="2196"/>
              <a:ext cx="580" cy="233"/>
            </a:xfrm>
            <a:prstGeom prst="rect">
              <a:avLst/>
            </a:prstGeom>
            <a:solidFill>
              <a:srgbClr val="FFFF99"/>
            </a:solidFill>
            <a:ln w="9525">
              <a:solidFill>
                <a:schemeClr val="tx1"/>
              </a:solidFill>
              <a:miter lim="800000"/>
              <a:headEnd/>
              <a:tailEnd/>
            </a:ln>
          </p:spPr>
          <p:txBody>
            <a:bodyPr wrap="none" lIns="92075" tIns="46038" rIns="92075" bIns="46038">
              <a:spAutoFit/>
            </a:bodyPr>
            <a:lstStyle/>
            <a:p>
              <a:r>
                <a:rPr lang="en-US" sz="1800">
                  <a:latin typeface="Times New Roman" charset="0"/>
                </a:rPr>
                <a:t>location</a:t>
              </a:r>
            </a:p>
          </p:txBody>
        </p:sp>
      </p:grpSp>
      <p:sp>
        <p:nvSpPr>
          <p:cNvPr id="19463" name="Rectangle 1035"/>
          <p:cNvSpPr>
            <a:spLocks noChangeArrowheads="1"/>
          </p:cNvSpPr>
          <p:nvPr/>
        </p:nvSpPr>
        <p:spPr bwMode="auto">
          <a:xfrm>
            <a:off x="2743200" y="2133600"/>
            <a:ext cx="1695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Sales Fact Table</a:t>
            </a:r>
          </a:p>
        </p:txBody>
      </p:sp>
      <p:sp>
        <p:nvSpPr>
          <p:cNvPr id="19464" name="Rectangle 1036"/>
          <p:cNvSpPr>
            <a:spLocks noChangeArrowheads="1"/>
          </p:cNvSpPr>
          <p:nvPr/>
        </p:nvSpPr>
        <p:spPr bwMode="auto">
          <a:xfrm>
            <a:off x="2895600" y="2590800"/>
            <a:ext cx="1600200"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65" name="Rectangle 1037"/>
          <p:cNvSpPr>
            <a:spLocks noChangeArrowheads="1"/>
          </p:cNvSpPr>
          <p:nvPr/>
        </p:nvSpPr>
        <p:spPr bwMode="auto">
          <a:xfrm>
            <a:off x="2895600" y="2667000"/>
            <a:ext cx="1601788" cy="366713"/>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a:r>
              <a:rPr lang="en-US" sz="1800">
                <a:latin typeface="Times New Roman" charset="0"/>
              </a:rPr>
              <a:t>time_key</a:t>
            </a:r>
          </a:p>
        </p:txBody>
      </p:sp>
      <p:sp>
        <p:nvSpPr>
          <p:cNvPr id="19466" name="Rectangle 1038"/>
          <p:cNvSpPr>
            <a:spLocks noChangeArrowheads="1"/>
          </p:cNvSpPr>
          <p:nvPr/>
        </p:nvSpPr>
        <p:spPr bwMode="auto">
          <a:xfrm>
            <a:off x="2895600" y="3124200"/>
            <a:ext cx="1600200" cy="36671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1800">
                <a:latin typeface="Times New Roman" charset="0"/>
              </a:rPr>
              <a:t>         item_key</a:t>
            </a:r>
          </a:p>
        </p:txBody>
      </p:sp>
      <p:sp>
        <p:nvSpPr>
          <p:cNvPr id="19467" name="Rectangle 1039"/>
          <p:cNvSpPr>
            <a:spLocks noChangeArrowheads="1"/>
          </p:cNvSpPr>
          <p:nvPr/>
        </p:nvSpPr>
        <p:spPr bwMode="auto">
          <a:xfrm>
            <a:off x="2895600" y="3505200"/>
            <a:ext cx="1600200"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68" name="Rectangle 1040"/>
          <p:cNvSpPr>
            <a:spLocks noChangeArrowheads="1"/>
          </p:cNvSpPr>
          <p:nvPr/>
        </p:nvSpPr>
        <p:spPr bwMode="auto">
          <a:xfrm>
            <a:off x="2895600" y="3505200"/>
            <a:ext cx="1600200" cy="366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1800">
                <a:latin typeface="Times New Roman" charset="0"/>
              </a:rPr>
              <a:t>      branch_key</a:t>
            </a:r>
          </a:p>
        </p:txBody>
      </p:sp>
      <p:sp>
        <p:nvSpPr>
          <p:cNvPr id="19469" name="Rectangle 1041"/>
          <p:cNvSpPr>
            <a:spLocks noChangeArrowheads="1"/>
          </p:cNvSpPr>
          <p:nvPr/>
        </p:nvSpPr>
        <p:spPr bwMode="auto">
          <a:xfrm>
            <a:off x="2895600" y="3962400"/>
            <a:ext cx="1600200"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70" name="Rectangle 1042"/>
          <p:cNvSpPr>
            <a:spLocks noChangeArrowheads="1"/>
          </p:cNvSpPr>
          <p:nvPr/>
        </p:nvSpPr>
        <p:spPr bwMode="auto">
          <a:xfrm>
            <a:off x="2894013" y="3981450"/>
            <a:ext cx="1593850" cy="3667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location_key</a:t>
            </a:r>
          </a:p>
        </p:txBody>
      </p:sp>
      <p:sp>
        <p:nvSpPr>
          <p:cNvPr id="19471" name="Rectangle 1043"/>
          <p:cNvSpPr>
            <a:spLocks noChangeArrowheads="1"/>
          </p:cNvSpPr>
          <p:nvPr/>
        </p:nvSpPr>
        <p:spPr bwMode="auto">
          <a:xfrm>
            <a:off x="2860675" y="4419600"/>
            <a:ext cx="1635125" cy="4556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72" name="Rectangle 1044"/>
          <p:cNvSpPr>
            <a:spLocks noChangeArrowheads="1"/>
          </p:cNvSpPr>
          <p:nvPr/>
        </p:nvSpPr>
        <p:spPr bwMode="auto">
          <a:xfrm>
            <a:off x="2895600" y="4473575"/>
            <a:ext cx="1581150" cy="366713"/>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units_sold</a:t>
            </a:r>
          </a:p>
        </p:txBody>
      </p:sp>
      <p:sp>
        <p:nvSpPr>
          <p:cNvPr id="19473" name="Rectangle 1045"/>
          <p:cNvSpPr>
            <a:spLocks noChangeArrowheads="1"/>
          </p:cNvSpPr>
          <p:nvPr/>
        </p:nvSpPr>
        <p:spPr bwMode="auto">
          <a:xfrm>
            <a:off x="2860675" y="4876800"/>
            <a:ext cx="1635125" cy="4619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74" name="Rectangle 1046"/>
          <p:cNvSpPr>
            <a:spLocks noChangeArrowheads="1"/>
          </p:cNvSpPr>
          <p:nvPr/>
        </p:nvSpPr>
        <p:spPr bwMode="auto">
          <a:xfrm>
            <a:off x="2895600" y="4918075"/>
            <a:ext cx="1587500" cy="366713"/>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dollars_sold</a:t>
            </a:r>
          </a:p>
        </p:txBody>
      </p:sp>
      <p:sp>
        <p:nvSpPr>
          <p:cNvPr id="19475" name="Rectangle 1047"/>
          <p:cNvSpPr>
            <a:spLocks noChangeArrowheads="1"/>
          </p:cNvSpPr>
          <p:nvPr/>
        </p:nvSpPr>
        <p:spPr bwMode="auto">
          <a:xfrm>
            <a:off x="2860675" y="5334000"/>
            <a:ext cx="1635125" cy="469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76" name="Rectangle 1048"/>
          <p:cNvSpPr>
            <a:spLocks noChangeArrowheads="1"/>
          </p:cNvSpPr>
          <p:nvPr/>
        </p:nvSpPr>
        <p:spPr bwMode="auto">
          <a:xfrm>
            <a:off x="2876550" y="5364163"/>
            <a:ext cx="1587500" cy="36671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avg_sales</a:t>
            </a:r>
          </a:p>
        </p:txBody>
      </p:sp>
      <p:sp>
        <p:nvSpPr>
          <p:cNvPr id="19477" name="Rectangle 1049"/>
          <p:cNvSpPr>
            <a:spLocks noChangeArrowheads="1"/>
          </p:cNvSpPr>
          <p:nvPr/>
        </p:nvSpPr>
        <p:spPr bwMode="auto">
          <a:xfrm>
            <a:off x="1295400" y="5715000"/>
            <a:ext cx="1219200" cy="376238"/>
          </a:xfrm>
          <a:prstGeom prst="rect">
            <a:avLst/>
          </a:prstGeom>
          <a:solidFill>
            <a:srgbClr val="FF99CC"/>
          </a:solidFill>
          <a:ln w="9525">
            <a:solidFill>
              <a:schemeClr val="tx1"/>
            </a:solidFill>
            <a:miter lim="800000"/>
            <a:headEnd/>
            <a:tailEnd/>
          </a:ln>
        </p:spPr>
        <p:txBody>
          <a:bodyPr lIns="92075" tIns="46038" rIns="92075" bIns="46038">
            <a:spAutoFit/>
          </a:bodyPr>
          <a:lstStyle/>
          <a:p>
            <a:pPr>
              <a:spcBef>
                <a:spcPct val="50000"/>
              </a:spcBef>
            </a:pPr>
            <a:r>
              <a:rPr lang="en-US" sz="1800">
                <a:latin typeface="Times New Roman" charset="0"/>
              </a:rPr>
              <a:t>Measures</a:t>
            </a:r>
          </a:p>
        </p:txBody>
      </p:sp>
      <p:sp>
        <p:nvSpPr>
          <p:cNvPr id="19478" name="Line 1050"/>
          <p:cNvSpPr>
            <a:spLocks noChangeShapeType="1"/>
          </p:cNvSpPr>
          <p:nvPr/>
        </p:nvSpPr>
        <p:spPr bwMode="auto">
          <a:xfrm flipV="1">
            <a:off x="2084388" y="4648200"/>
            <a:ext cx="769937" cy="1143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79" name="Line 1051"/>
          <p:cNvSpPr>
            <a:spLocks noChangeShapeType="1"/>
          </p:cNvSpPr>
          <p:nvPr/>
        </p:nvSpPr>
        <p:spPr bwMode="auto">
          <a:xfrm flipV="1">
            <a:off x="2065338" y="5191125"/>
            <a:ext cx="788987" cy="5619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0" name="Line 1052"/>
          <p:cNvSpPr>
            <a:spLocks noChangeShapeType="1"/>
          </p:cNvSpPr>
          <p:nvPr/>
        </p:nvSpPr>
        <p:spPr bwMode="auto">
          <a:xfrm flipV="1">
            <a:off x="2065338" y="5559425"/>
            <a:ext cx="904875" cy="193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1" name="Line 1053"/>
          <p:cNvSpPr>
            <a:spLocks noChangeShapeType="1"/>
          </p:cNvSpPr>
          <p:nvPr/>
        </p:nvSpPr>
        <p:spPr bwMode="auto">
          <a:xfrm flipH="1">
            <a:off x="1641475" y="3816350"/>
            <a:ext cx="1193800" cy="735013"/>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2" name="Line 1054"/>
          <p:cNvSpPr>
            <a:spLocks noChangeShapeType="1"/>
          </p:cNvSpPr>
          <p:nvPr/>
        </p:nvSpPr>
        <p:spPr bwMode="auto">
          <a:xfrm flipH="1" flipV="1">
            <a:off x="1905000" y="2362200"/>
            <a:ext cx="914400" cy="381000"/>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3" name="Line 1055"/>
          <p:cNvSpPr>
            <a:spLocks noChangeShapeType="1"/>
          </p:cNvSpPr>
          <p:nvPr/>
        </p:nvSpPr>
        <p:spPr bwMode="auto">
          <a:xfrm>
            <a:off x="4572000" y="4267200"/>
            <a:ext cx="533400" cy="381000"/>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84" name="Line 1056"/>
          <p:cNvSpPr>
            <a:spLocks noChangeShapeType="1"/>
          </p:cNvSpPr>
          <p:nvPr/>
        </p:nvSpPr>
        <p:spPr bwMode="auto">
          <a:xfrm flipV="1">
            <a:off x="4495800" y="2743200"/>
            <a:ext cx="762000" cy="525463"/>
          </a:xfrm>
          <a:prstGeom prst="line">
            <a:avLst/>
          </a:prstGeom>
          <a:noFill/>
          <a:ln w="50800">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9485" name="Group 1057"/>
          <p:cNvGrpSpPr>
            <a:grpSpLocks/>
          </p:cNvGrpSpPr>
          <p:nvPr/>
        </p:nvGrpSpPr>
        <p:grpSpPr bwMode="auto">
          <a:xfrm>
            <a:off x="5181600" y="1524000"/>
            <a:ext cx="1303338" cy="1744663"/>
            <a:chOff x="3796" y="1002"/>
            <a:chExt cx="812" cy="1081"/>
          </a:xfrm>
        </p:grpSpPr>
        <p:sp>
          <p:nvSpPr>
            <p:cNvPr id="19517" name="Rectangle 1058"/>
            <p:cNvSpPr>
              <a:spLocks noChangeArrowheads="1"/>
            </p:cNvSpPr>
            <p:nvPr/>
          </p:nvSpPr>
          <p:spPr bwMode="auto">
            <a:xfrm>
              <a:off x="3796" y="1262"/>
              <a:ext cx="812" cy="821"/>
            </a:xfrm>
            <a:prstGeom prst="rect">
              <a:avLst/>
            </a:prstGeom>
            <a:solidFill>
              <a:srgbClr val="FFCC99"/>
            </a:solidFill>
            <a:ln w="9525">
              <a:solidFill>
                <a:schemeClr val="tx1"/>
              </a:solidFill>
              <a:miter lim="800000"/>
              <a:headEnd/>
              <a:tailEnd/>
            </a:ln>
          </p:spPr>
          <p:txBody>
            <a:bodyPr wrap="none" lIns="92075" tIns="46038" rIns="92075" bIns="46038">
              <a:spAutoFit/>
            </a:bodyPr>
            <a:lstStyle/>
            <a:p>
              <a:r>
                <a:rPr lang="en-US">
                  <a:latin typeface="Times New Roman" charset="0"/>
                </a:rPr>
                <a:t>item_key</a:t>
              </a:r>
            </a:p>
            <a:p>
              <a:r>
                <a:rPr lang="en-US">
                  <a:latin typeface="Times New Roman" charset="0"/>
                </a:rPr>
                <a:t>item_name</a:t>
              </a:r>
            </a:p>
            <a:p>
              <a:r>
                <a:rPr lang="en-US">
                  <a:latin typeface="Times New Roman" charset="0"/>
                </a:rPr>
                <a:t>brand</a:t>
              </a:r>
            </a:p>
            <a:p>
              <a:r>
                <a:rPr lang="en-US">
                  <a:latin typeface="Times New Roman" charset="0"/>
                </a:rPr>
                <a:t>type</a:t>
              </a:r>
            </a:p>
            <a:p>
              <a:r>
                <a:rPr lang="en-US">
                  <a:latin typeface="Times New Roman" charset="0"/>
                </a:rPr>
                <a:t>supplier_type</a:t>
              </a:r>
            </a:p>
          </p:txBody>
        </p:sp>
        <p:sp>
          <p:nvSpPr>
            <p:cNvPr id="19518" name="Text Box 1059"/>
            <p:cNvSpPr txBox="1">
              <a:spLocks noChangeArrowheads="1"/>
            </p:cNvSpPr>
            <p:nvPr/>
          </p:nvSpPr>
          <p:spPr bwMode="auto">
            <a:xfrm>
              <a:off x="3953" y="1002"/>
              <a:ext cx="401" cy="252"/>
            </a:xfrm>
            <a:prstGeom prst="rect">
              <a:avLst/>
            </a:prstGeom>
            <a:solidFill>
              <a:srgbClr val="FFCC99"/>
            </a:solidFill>
            <a:ln w="9525">
              <a:solidFill>
                <a:schemeClr val="tx1"/>
              </a:solidFill>
              <a:miter lim="800000"/>
              <a:headEnd/>
              <a:tailEnd/>
            </a:ln>
          </p:spPr>
          <p:txBody>
            <a:bodyPr wrap="none" anchor="ctr">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2000">
                  <a:latin typeface="Times New Roman" charset="0"/>
                </a:rPr>
                <a:t>item</a:t>
              </a:r>
            </a:p>
          </p:txBody>
        </p:sp>
      </p:grpSp>
      <p:grpSp>
        <p:nvGrpSpPr>
          <p:cNvPr id="19486" name="Group 1060"/>
          <p:cNvGrpSpPr>
            <a:grpSpLocks/>
          </p:cNvGrpSpPr>
          <p:nvPr/>
        </p:nvGrpSpPr>
        <p:grpSpPr bwMode="auto">
          <a:xfrm>
            <a:off x="304800" y="3962400"/>
            <a:ext cx="1290638" cy="1230313"/>
            <a:chOff x="3896" y="2472"/>
            <a:chExt cx="803" cy="762"/>
          </a:xfrm>
        </p:grpSpPr>
        <p:sp>
          <p:nvSpPr>
            <p:cNvPr id="19515" name="Rectangle 1061"/>
            <p:cNvSpPr>
              <a:spLocks noChangeArrowheads="1"/>
            </p:cNvSpPr>
            <p:nvPr/>
          </p:nvSpPr>
          <p:spPr bwMode="auto">
            <a:xfrm>
              <a:off x="3896" y="2716"/>
              <a:ext cx="803" cy="518"/>
            </a:xfrm>
            <a:prstGeom prst="rect">
              <a:avLst/>
            </a:prstGeom>
            <a:solidFill>
              <a:srgbClr val="CCECFF"/>
            </a:solidFill>
            <a:ln w="9525">
              <a:solidFill>
                <a:schemeClr val="tx1"/>
              </a:solidFill>
              <a:miter lim="800000"/>
              <a:headEnd/>
              <a:tailEnd/>
            </a:ln>
          </p:spPr>
          <p:txBody>
            <a:bodyPr wrap="none" lIns="92075" tIns="46038" rIns="92075" bIns="46038">
              <a:spAutoFit/>
            </a:bodyPr>
            <a:lstStyle/>
            <a:p>
              <a:r>
                <a:rPr lang="en-US">
                  <a:latin typeface="Times New Roman" charset="0"/>
                </a:rPr>
                <a:t>branch_key</a:t>
              </a:r>
            </a:p>
            <a:p>
              <a:r>
                <a:rPr lang="en-US">
                  <a:latin typeface="Times New Roman" charset="0"/>
                </a:rPr>
                <a:t>branch_name</a:t>
              </a:r>
            </a:p>
            <a:p>
              <a:r>
                <a:rPr lang="en-US">
                  <a:latin typeface="Times New Roman" charset="0"/>
                </a:rPr>
                <a:t>branch_type</a:t>
              </a:r>
            </a:p>
          </p:txBody>
        </p:sp>
        <p:sp>
          <p:nvSpPr>
            <p:cNvPr id="19516" name="Text Box 1062"/>
            <p:cNvSpPr txBox="1">
              <a:spLocks noChangeArrowheads="1"/>
            </p:cNvSpPr>
            <p:nvPr/>
          </p:nvSpPr>
          <p:spPr bwMode="auto">
            <a:xfrm>
              <a:off x="3907" y="2472"/>
              <a:ext cx="507" cy="233"/>
            </a:xfrm>
            <a:prstGeom prst="rect">
              <a:avLst/>
            </a:prstGeom>
            <a:solidFill>
              <a:srgbClr val="CCECFF"/>
            </a:solidFill>
            <a:ln w="9525">
              <a:solidFill>
                <a:schemeClr val="tx1"/>
              </a:solidFill>
              <a:miter lim="800000"/>
              <a:headEnd/>
              <a:tailEnd/>
            </a:ln>
          </p:spPr>
          <p:txBody>
            <a:bodyPr wrap="none">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1800">
                  <a:latin typeface="Times New Roman" charset="0"/>
                </a:rPr>
                <a:t>branch</a:t>
              </a:r>
            </a:p>
          </p:txBody>
        </p:sp>
      </p:grpSp>
      <p:sp>
        <p:nvSpPr>
          <p:cNvPr id="19487" name="Rectangle 1063"/>
          <p:cNvSpPr>
            <a:spLocks noChangeArrowheads="1"/>
          </p:cNvSpPr>
          <p:nvPr/>
        </p:nvSpPr>
        <p:spPr bwMode="auto">
          <a:xfrm>
            <a:off x="7011988" y="2495550"/>
            <a:ext cx="1608137"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88" name="Rectangle 1064"/>
          <p:cNvSpPr>
            <a:spLocks noChangeArrowheads="1"/>
          </p:cNvSpPr>
          <p:nvPr/>
        </p:nvSpPr>
        <p:spPr bwMode="auto">
          <a:xfrm>
            <a:off x="6859588" y="1581150"/>
            <a:ext cx="203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Shipping Fact Table</a:t>
            </a:r>
          </a:p>
        </p:txBody>
      </p:sp>
      <p:sp>
        <p:nvSpPr>
          <p:cNvPr id="19489" name="Rectangle 1065"/>
          <p:cNvSpPr>
            <a:spLocks noChangeArrowheads="1"/>
          </p:cNvSpPr>
          <p:nvPr/>
        </p:nvSpPr>
        <p:spPr bwMode="auto">
          <a:xfrm>
            <a:off x="7011988" y="2038350"/>
            <a:ext cx="1600200"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0" name="Rectangle 1066"/>
          <p:cNvSpPr>
            <a:spLocks noChangeArrowheads="1"/>
          </p:cNvSpPr>
          <p:nvPr/>
        </p:nvSpPr>
        <p:spPr bwMode="auto">
          <a:xfrm>
            <a:off x="7011988" y="2114550"/>
            <a:ext cx="1601787" cy="366713"/>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a:r>
              <a:rPr lang="en-US" sz="1800">
                <a:latin typeface="Times New Roman" charset="0"/>
              </a:rPr>
              <a:t>time_key</a:t>
            </a:r>
          </a:p>
        </p:txBody>
      </p:sp>
      <p:sp>
        <p:nvSpPr>
          <p:cNvPr id="19491" name="Rectangle 1067"/>
          <p:cNvSpPr>
            <a:spLocks noChangeArrowheads="1"/>
          </p:cNvSpPr>
          <p:nvPr/>
        </p:nvSpPr>
        <p:spPr bwMode="auto">
          <a:xfrm>
            <a:off x="7011988" y="2571750"/>
            <a:ext cx="1600200" cy="36671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1800">
                <a:latin typeface="Times New Roman" charset="0"/>
              </a:rPr>
              <a:t>         item_key</a:t>
            </a:r>
          </a:p>
        </p:txBody>
      </p:sp>
      <p:sp>
        <p:nvSpPr>
          <p:cNvPr id="19492" name="Rectangle 1068"/>
          <p:cNvSpPr>
            <a:spLocks noChangeArrowheads="1"/>
          </p:cNvSpPr>
          <p:nvPr/>
        </p:nvSpPr>
        <p:spPr bwMode="auto">
          <a:xfrm>
            <a:off x="7011988" y="2952750"/>
            <a:ext cx="1600200" cy="450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3" name="Rectangle 1069"/>
          <p:cNvSpPr>
            <a:spLocks noChangeArrowheads="1"/>
          </p:cNvSpPr>
          <p:nvPr/>
        </p:nvSpPr>
        <p:spPr bwMode="auto">
          <a:xfrm>
            <a:off x="7011988" y="2952750"/>
            <a:ext cx="1600200" cy="366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r>
              <a:rPr lang="en-US" sz="1800">
                <a:latin typeface="Times New Roman" charset="0"/>
              </a:rPr>
              <a:t>     shipper_key</a:t>
            </a:r>
          </a:p>
        </p:txBody>
      </p:sp>
      <p:sp>
        <p:nvSpPr>
          <p:cNvPr id="19494" name="Rectangle 1070"/>
          <p:cNvSpPr>
            <a:spLocks noChangeArrowheads="1"/>
          </p:cNvSpPr>
          <p:nvPr/>
        </p:nvSpPr>
        <p:spPr bwMode="auto">
          <a:xfrm>
            <a:off x="7011988" y="3409950"/>
            <a:ext cx="1600200" cy="4524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5" name="Rectangle 1071"/>
          <p:cNvSpPr>
            <a:spLocks noChangeArrowheads="1"/>
          </p:cNvSpPr>
          <p:nvPr/>
        </p:nvSpPr>
        <p:spPr bwMode="auto">
          <a:xfrm>
            <a:off x="7010400" y="3429000"/>
            <a:ext cx="1593850" cy="3667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from_location</a:t>
            </a:r>
          </a:p>
        </p:txBody>
      </p:sp>
      <p:sp>
        <p:nvSpPr>
          <p:cNvPr id="19496" name="Rectangle 1072"/>
          <p:cNvSpPr>
            <a:spLocks noChangeArrowheads="1"/>
          </p:cNvSpPr>
          <p:nvPr/>
        </p:nvSpPr>
        <p:spPr bwMode="auto">
          <a:xfrm>
            <a:off x="6977063" y="3867150"/>
            <a:ext cx="1635125" cy="4556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7" name="Rectangle 1073"/>
          <p:cNvSpPr>
            <a:spLocks noChangeArrowheads="1"/>
          </p:cNvSpPr>
          <p:nvPr/>
        </p:nvSpPr>
        <p:spPr bwMode="auto">
          <a:xfrm>
            <a:off x="7011988" y="3943350"/>
            <a:ext cx="1555750" cy="3667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to_location</a:t>
            </a:r>
          </a:p>
        </p:txBody>
      </p:sp>
      <p:sp>
        <p:nvSpPr>
          <p:cNvPr id="19498" name="Rectangle 1074"/>
          <p:cNvSpPr>
            <a:spLocks noChangeArrowheads="1"/>
          </p:cNvSpPr>
          <p:nvPr/>
        </p:nvSpPr>
        <p:spPr bwMode="auto">
          <a:xfrm>
            <a:off x="6977063" y="4324350"/>
            <a:ext cx="1635125" cy="4619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9" name="Rectangle 1075"/>
          <p:cNvSpPr>
            <a:spLocks noChangeArrowheads="1"/>
          </p:cNvSpPr>
          <p:nvPr/>
        </p:nvSpPr>
        <p:spPr bwMode="auto">
          <a:xfrm>
            <a:off x="7011988" y="4365625"/>
            <a:ext cx="1574800" cy="366713"/>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dollars_cost</a:t>
            </a:r>
          </a:p>
        </p:txBody>
      </p:sp>
      <p:sp>
        <p:nvSpPr>
          <p:cNvPr id="19500" name="Rectangle 1076"/>
          <p:cNvSpPr>
            <a:spLocks noChangeArrowheads="1"/>
          </p:cNvSpPr>
          <p:nvPr/>
        </p:nvSpPr>
        <p:spPr bwMode="auto">
          <a:xfrm>
            <a:off x="6977063" y="4781550"/>
            <a:ext cx="1635125" cy="469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01" name="Rectangle 1077"/>
          <p:cNvSpPr>
            <a:spLocks noChangeArrowheads="1"/>
          </p:cNvSpPr>
          <p:nvPr/>
        </p:nvSpPr>
        <p:spPr bwMode="auto">
          <a:xfrm>
            <a:off x="6992938" y="4811713"/>
            <a:ext cx="1625600" cy="36671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r>
              <a:rPr lang="en-US" sz="1800">
                <a:latin typeface="Times New Roman" charset="0"/>
              </a:rPr>
              <a:t>   units_shipped</a:t>
            </a:r>
          </a:p>
        </p:txBody>
      </p:sp>
      <p:sp>
        <p:nvSpPr>
          <p:cNvPr id="19502" name="Line 1079"/>
          <p:cNvSpPr>
            <a:spLocks noChangeShapeType="1"/>
          </p:cNvSpPr>
          <p:nvPr/>
        </p:nvSpPr>
        <p:spPr bwMode="auto">
          <a:xfrm flipH="1" flipV="1">
            <a:off x="6629400" y="1524000"/>
            <a:ext cx="381000" cy="68580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9503" name="Line 1080"/>
          <p:cNvSpPr>
            <a:spLocks noChangeShapeType="1"/>
          </p:cNvSpPr>
          <p:nvPr/>
        </p:nvSpPr>
        <p:spPr bwMode="auto">
          <a:xfrm flipH="1">
            <a:off x="2743200" y="1524000"/>
            <a:ext cx="388620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9504" name="Line 1081"/>
          <p:cNvSpPr>
            <a:spLocks noChangeShapeType="1"/>
          </p:cNvSpPr>
          <p:nvPr/>
        </p:nvSpPr>
        <p:spPr bwMode="auto">
          <a:xfrm flipH="1">
            <a:off x="1905000" y="1524000"/>
            <a:ext cx="914400" cy="4572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505" name="Line 1082"/>
          <p:cNvSpPr>
            <a:spLocks noChangeShapeType="1"/>
          </p:cNvSpPr>
          <p:nvPr/>
        </p:nvSpPr>
        <p:spPr bwMode="auto">
          <a:xfrm flipH="1" flipV="1">
            <a:off x="6553200" y="2667000"/>
            <a:ext cx="533400" cy="762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506" name="Line 1083"/>
          <p:cNvSpPr>
            <a:spLocks noChangeShapeType="1"/>
          </p:cNvSpPr>
          <p:nvPr/>
        </p:nvSpPr>
        <p:spPr bwMode="auto">
          <a:xfrm flipH="1">
            <a:off x="6248400" y="3657600"/>
            <a:ext cx="685800" cy="7620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507" name="Line 1084"/>
          <p:cNvSpPr>
            <a:spLocks noChangeShapeType="1"/>
          </p:cNvSpPr>
          <p:nvPr/>
        </p:nvSpPr>
        <p:spPr bwMode="auto">
          <a:xfrm flipH="1">
            <a:off x="6477000" y="4191000"/>
            <a:ext cx="457200" cy="2286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508" name="Line 1085"/>
          <p:cNvSpPr>
            <a:spLocks noChangeShapeType="1"/>
          </p:cNvSpPr>
          <p:nvPr/>
        </p:nvSpPr>
        <p:spPr bwMode="auto">
          <a:xfrm>
            <a:off x="8991600" y="3200400"/>
            <a:ext cx="0" cy="167640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19509" name="Group 1087"/>
          <p:cNvGrpSpPr>
            <a:grpSpLocks/>
          </p:cNvGrpSpPr>
          <p:nvPr/>
        </p:nvGrpSpPr>
        <p:grpSpPr bwMode="auto">
          <a:xfrm>
            <a:off x="7612063" y="5410200"/>
            <a:ext cx="1344612" cy="1473200"/>
            <a:chOff x="3891" y="2472"/>
            <a:chExt cx="836" cy="911"/>
          </a:xfrm>
        </p:grpSpPr>
        <p:sp>
          <p:nvSpPr>
            <p:cNvPr id="19513" name="Rectangle 1088"/>
            <p:cNvSpPr>
              <a:spLocks noChangeArrowheads="1"/>
            </p:cNvSpPr>
            <p:nvPr/>
          </p:nvSpPr>
          <p:spPr bwMode="auto">
            <a:xfrm>
              <a:off x="3896" y="2715"/>
              <a:ext cx="831" cy="668"/>
            </a:xfrm>
            <a:prstGeom prst="rect">
              <a:avLst/>
            </a:prstGeom>
            <a:solidFill>
              <a:srgbClr val="CCECFF"/>
            </a:solidFill>
            <a:ln w="9525">
              <a:solidFill>
                <a:schemeClr val="tx1"/>
              </a:solidFill>
              <a:miter lim="800000"/>
              <a:headEnd/>
              <a:tailEnd/>
            </a:ln>
          </p:spPr>
          <p:txBody>
            <a:bodyPr wrap="none" lIns="92075" tIns="46038" rIns="92075" bIns="46038">
              <a:spAutoFit/>
            </a:bodyPr>
            <a:lstStyle/>
            <a:p>
              <a:r>
                <a:rPr lang="en-US">
                  <a:latin typeface="Times New Roman" charset="0"/>
                </a:rPr>
                <a:t>shipper_key</a:t>
              </a:r>
            </a:p>
            <a:p>
              <a:r>
                <a:rPr lang="en-US">
                  <a:latin typeface="Times New Roman" charset="0"/>
                </a:rPr>
                <a:t>shipper_name</a:t>
              </a:r>
            </a:p>
            <a:p>
              <a:r>
                <a:rPr lang="en-US">
                  <a:latin typeface="Times New Roman" charset="0"/>
                </a:rPr>
                <a:t>location_key</a:t>
              </a:r>
            </a:p>
            <a:p>
              <a:r>
                <a:rPr lang="en-US">
                  <a:latin typeface="Times New Roman" charset="0"/>
                </a:rPr>
                <a:t>shipper_type</a:t>
              </a:r>
            </a:p>
          </p:txBody>
        </p:sp>
        <p:sp>
          <p:nvSpPr>
            <p:cNvPr id="19514" name="Text Box 1089"/>
            <p:cNvSpPr txBox="1">
              <a:spLocks noChangeArrowheads="1"/>
            </p:cNvSpPr>
            <p:nvPr/>
          </p:nvSpPr>
          <p:spPr bwMode="auto">
            <a:xfrm>
              <a:off x="3891" y="2472"/>
              <a:ext cx="539" cy="233"/>
            </a:xfrm>
            <a:prstGeom prst="rect">
              <a:avLst/>
            </a:prstGeom>
            <a:solidFill>
              <a:srgbClr val="CCECFF"/>
            </a:solidFill>
            <a:ln w="9525">
              <a:solidFill>
                <a:schemeClr val="tx1"/>
              </a:solidFill>
              <a:miter lim="800000"/>
              <a:headEnd/>
              <a:tailEnd/>
            </a:ln>
          </p:spPr>
          <p:txBody>
            <a:bodyPr wrap="none">
              <a:spAutoFit/>
            </a:bodyPr>
            <a:lstStyle>
              <a:lvl1pPr>
                <a:defRPr sz="1600">
                  <a:solidFill>
                    <a:schemeClr val="tx1"/>
                  </a:solidFill>
                  <a:latin typeface="Helvetica" charset="0"/>
                  <a:ea typeface="ＭＳ Ｐゴシック" charset="-128"/>
                </a:defRPr>
              </a:lvl1pPr>
              <a:lvl2pPr marL="742950" indent="-285750">
                <a:defRPr sz="1600">
                  <a:solidFill>
                    <a:schemeClr val="tx1"/>
                  </a:solidFill>
                  <a:latin typeface="Helvetica" charset="0"/>
                  <a:ea typeface="ＭＳ Ｐゴシック" charset="-128"/>
                </a:defRPr>
              </a:lvl2pPr>
              <a:lvl3pPr marL="1143000" indent="-228600">
                <a:defRPr sz="1600">
                  <a:solidFill>
                    <a:schemeClr val="tx1"/>
                  </a:solidFill>
                  <a:latin typeface="Helvetica" charset="0"/>
                  <a:ea typeface="ＭＳ Ｐゴシック" charset="-128"/>
                </a:defRPr>
              </a:lvl3pPr>
              <a:lvl4pPr marL="1600200" indent="-228600">
                <a:defRPr sz="1600">
                  <a:solidFill>
                    <a:schemeClr val="tx1"/>
                  </a:solidFill>
                  <a:latin typeface="Helvetica" charset="0"/>
                  <a:ea typeface="ＭＳ Ｐゴシック" charset="-128"/>
                </a:defRPr>
              </a:lvl4pPr>
              <a:lvl5pPr marL="2057400" indent="-228600">
                <a:defRPr sz="1600">
                  <a:solidFill>
                    <a:schemeClr val="tx1"/>
                  </a:solidFill>
                  <a:latin typeface="Helvetica" charset="0"/>
                  <a:ea typeface="ＭＳ Ｐゴシック" charset="-128"/>
                </a:defRPr>
              </a:lvl5pPr>
              <a:lvl6pPr marL="2514600" indent="-228600" eaLnBrk="0" fontAlgn="base" hangingPunct="0">
                <a:spcBef>
                  <a:spcPct val="0"/>
                </a:spcBef>
                <a:spcAft>
                  <a:spcPct val="0"/>
                </a:spcAft>
                <a:defRPr sz="1600">
                  <a:solidFill>
                    <a:schemeClr val="tx1"/>
                  </a:solidFill>
                  <a:latin typeface="Helvetica" charset="0"/>
                  <a:ea typeface="ＭＳ Ｐゴシック" charset="-128"/>
                </a:defRPr>
              </a:lvl6pPr>
              <a:lvl7pPr marL="2971800" indent="-228600" eaLnBrk="0" fontAlgn="base" hangingPunct="0">
                <a:spcBef>
                  <a:spcPct val="0"/>
                </a:spcBef>
                <a:spcAft>
                  <a:spcPct val="0"/>
                </a:spcAft>
                <a:defRPr sz="1600">
                  <a:solidFill>
                    <a:schemeClr val="tx1"/>
                  </a:solidFill>
                  <a:latin typeface="Helvetica" charset="0"/>
                  <a:ea typeface="ＭＳ Ｐゴシック" charset="-128"/>
                </a:defRPr>
              </a:lvl7pPr>
              <a:lvl8pPr marL="3429000" indent="-228600" eaLnBrk="0" fontAlgn="base" hangingPunct="0">
                <a:spcBef>
                  <a:spcPct val="0"/>
                </a:spcBef>
                <a:spcAft>
                  <a:spcPct val="0"/>
                </a:spcAft>
                <a:defRPr sz="1600">
                  <a:solidFill>
                    <a:schemeClr val="tx1"/>
                  </a:solidFill>
                  <a:latin typeface="Helvetica" charset="0"/>
                  <a:ea typeface="ＭＳ Ｐゴシック" charset="-128"/>
                </a:defRPr>
              </a:lvl8pPr>
              <a:lvl9pPr marL="3886200" indent="-228600" eaLnBrk="0" fontAlgn="base" hangingPunct="0">
                <a:spcBef>
                  <a:spcPct val="0"/>
                </a:spcBef>
                <a:spcAft>
                  <a:spcPct val="0"/>
                </a:spcAft>
                <a:defRPr sz="1600">
                  <a:solidFill>
                    <a:schemeClr val="tx1"/>
                  </a:solidFill>
                  <a:latin typeface="Helvetica" charset="0"/>
                  <a:ea typeface="ＭＳ Ｐゴシック" charset="-128"/>
                </a:defRPr>
              </a:lvl9pPr>
            </a:lstStyle>
            <a:p>
              <a:pPr algn="ctr"/>
              <a:r>
                <a:rPr lang="en-US" sz="1800">
                  <a:latin typeface="Times New Roman" charset="0"/>
                </a:rPr>
                <a:t>shipper</a:t>
              </a:r>
            </a:p>
          </p:txBody>
        </p:sp>
      </p:grpSp>
      <p:sp>
        <p:nvSpPr>
          <p:cNvPr id="19510" name="Line 1090"/>
          <p:cNvSpPr>
            <a:spLocks noChangeShapeType="1"/>
          </p:cNvSpPr>
          <p:nvPr/>
        </p:nvSpPr>
        <p:spPr bwMode="auto">
          <a:xfrm flipH="1">
            <a:off x="8610600" y="4800600"/>
            <a:ext cx="381000" cy="10668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511" name="Line 1091"/>
          <p:cNvSpPr>
            <a:spLocks noChangeShapeType="1"/>
          </p:cNvSpPr>
          <p:nvPr/>
        </p:nvSpPr>
        <p:spPr bwMode="auto">
          <a:xfrm>
            <a:off x="8610600" y="3200400"/>
            <a:ext cx="381000"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9512" name="Line 1092"/>
          <p:cNvSpPr>
            <a:spLocks noChangeShapeType="1"/>
          </p:cNvSpPr>
          <p:nvPr/>
        </p:nvSpPr>
        <p:spPr bwMode="auto">
          <a:xfrm flipH="1" flipV="1">
            <a:off x="5867400" y="5791200"/>
            <a:ext cx="1752600" cy="685800"/>
          </a:xfrm>
          <a:prstGeom prst="line">
            <a:avLst/>
          </a:prstGeom>
          <a:noFill/>
          <a:ln w="2857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711493858"/>
      </p:ext>
    </p:extLst>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Data Analysis and OLAP</a:t>
            </a:r>
          </a:p>
        </p:txBody>
      </p:sp>
      <p:sp>
        <p:nvSpPr>
          <p:cNvPr id="65538" name="Rectangle 3"/>
          <p:cNvSpPr>
            <a:spLocks noGrp="1" noChangeArrowheads="1"/>
          </p:cNvSpPr>
          <p:nvPr>
            <p:ph idx="1"/>
          </p:nvPr>
        </p:nvSpPr>
        <p:spPr/>
        <p:txBody>
          <a:bodyPr/>
          <a:lstStyle/>
          <a:p>
            <a:r>
              <a:rPr lang="en-US" dirty="0"/>
              <a:t>Data analysis often involves looking for patterns that arise when data values are grouped in “interesting” ways. In  a retail business, we might group sales by product, the date or month of the sale, the color or size of the product, or the profile (such as age group and gender) of the customer who bought the product .     </a:t>
            </a:r>
          </a:p>
          <a:p>
            <a:r>
              <a:rPr lang="en-US" b="1" dirty="0">
                <a:solidFill>
                  <a:schemeClr val="tx2"/>
                </a:solidFill>
              </a:rPr>
              <a:t>Online Analytical Processing (OLAP)</a:t>
            </a:r>
          </a:p>
          <a:p>
            <a:pPr lvl="1"/>
            <a:r>
              <a:rPr lang="en-US" dirty="0"/>
              <a:t>Interactive analysis of data, allowing data to be summarized and viewed in different ways in an online fashion (with negligible delay)</a:t>
            </a:r>
          </a:p>
          <a:p>
            <a:r>
              <a:rPr lang="en-US" dirty="0"/>
              <a:t>Consider an application where a shop wants to find out what kinds of clothes are popular.  Consider the following relation </a:t>
            </a:r>
            <a:r>
              <a:rPr lang="en-US" i="1" dirty="0"/>
              <a:t>sales</a:t>
            </a:r>
            <a:r>
              <a:rPr lang="en-US" dirty="0"/>
              <a:t> with the schema:</a:t>
            </a:r>
          </a:p>
          <a:p>
            <a:pPr>
              <a:buFont typeface="Monotype Sorts" charset="2"/>
              <a:buNone/>
            </a:pPr>
            <a:r>
              <a:rPr lang="en-US" dirty="0"/>
              <a:t>	</a:t>
            </a:r>
            <a:r>
              <a:rPr lang="en-US" b="1" i="1" dirty="0"/>
              <a:t>sales (</a:t>
            </a:r>
            <a:r>
              <a:rPr lang="en-US" b="1" i="1" dirty="0" err="1" smtClean="0"/>
              <a:t>item_name</a:t>
            </a:r>
            <a:r>
              <a:rPr lang="en-US" b="1" i="1" dirty="0"/>
              <a:t>, color, </a:t>
            </a:r>
            <a:r>
              <a:rPr lang="en-US" b="1" i="1" dirty="0" err="1" smtClean="0"/>
              <a:t>cloths_size</a:t>
            </a:r>
            <a:r>
              <a:rPr lang="en-US" b="1" i="1" dirty="0"/>
              <a:t>, </a:t>
            </a:r>
            <a:r>
              <a:rPr lang="en-US" b="1" i="1" dirty="0" err="1" smtClean="0"/>
              <a:t>quentity</a:t>
            </a:r>
            <a:r>
              <a:rPr lang="en-US" b="1" i="1" dirty="0" smtClean="0"/>
              <a:t>)</a:t>
            </a:r>
            <a:endParaRPr lang="en-US" b="1" i="1" dirty="0"/>
          </a:p>
          <a:p>
            <a:pPr>
              <a:buFont typeface="Monotype Sorts" charset="2"/>
              <a:buNone/>
            </a:pPr>
            <a:r>
              <a:rPr lang="en-US" dirty="0"/>
              <a:t>	</a:t>
            </a:r>
            <a:r>
              <a:rPr lang="en-US" b="1" dirty="0" err="1" smtClean="0"/>
              <a:t>item_name</a:t>
            </a:r>
            <a:r>
              <a:rPr lang="en-US" dirty="0" smtClean="0"/>
              <a:t> </a:t>
            </a:r>
            <a:r>
              <a:rPr lang="en-US" dirty="0"/>
              <a:t>can take the values (skirt, dress, shirt, pant)</a:t>
            </a:r>
          </a:p>
          <a:p>
            <a:pPr>
              <a:buFont typeface="Monotype Sorts" charset="2"/>
              <a:buNone/>
            </a:pPr>
            <a:r>
              <a:rPr lang="en-US" dirty="0"/>
              <a:t>	</a:t>
            </a:r>
            <a:r>
              <a:rPr lang="en-US" b="1" dirty="0"/>
              <a:t>color</a:t>
            </a:r>
            <a:r>
              <a:rPr lang="en-US" dirty="0"/>
              <a:t> can take the values (dark, pastel, white)</a:t>
            </a:r>
          </a:p>
          <a:p>
            <a:pPr>
              <a:buFont typeface="Monotype Sorts" charset="2"/>
              <a:buNone/>
            </a:pPr>
            <a:r>
              <a:rPr lang="en-US" dirty="0"/>
              <a:t>	</a:t>
            </a:r>
            <a:r>
              <a:rPr lang="en-US" dirty="0" err="1" smtClean="0"/>
              <a:t>cloths_</a:t>
            </a:r>
            <a:r>
              <a:rPr lang="en-US" b="1" dirty="0" err="1" smtClean="0"/>
              <a:t>size</a:t>
            </a:r>
            <a:r>
              <a:rPr lang="en-US" dirty="0" smtClean="0"/>
              <a:t> </a:t>
            </a:r>
            <a:r>
              <a:rPr lang="en-US" dirty="0"/>
              <a:t>can take the values (small, medium, large)   </a:t>
            </a:r>
          </a:p>
          <a:p>
            <a:r>
              <a:rPr lang="en-US" dirty="0"/>
              <a:t>Given a relation for data analysis, some of its attributes can be identified as </a:t>
            </a:r>
            <a:r>
              <a:rPr lang="en-US" b="1" dirty="0"/>
              <a:t>measure</a:t>
            </a:r>
            <a:r>
              <a:rPr lang="en-US" dirty="0"/>
              <a:t> attributes and some (or all) the other attributes of the relation are identified as </a:t>
            </a:r>
            <a:r>
              <a:rPr lang="en-US" b="1" dirty="0"/>
              <a:t>dimension</a:t>
            </a:r>
            <a:r>
              <a:rPr lang="en-US" dirty="0"/>
              <a:t> attributes.</a:t>
            </a:r>
            <a:br>
              <a:rPr lang="en-US" dirty="0"/>
            </a:br>
            <a:endParaRPr lang="en-US" altLang="en-US" dirty="0"/>
          </a:p>
          <a:p>
            <a:endParaRPr lang="en-US"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Data Analysis and OLAP</a:t>
            </a:r>
          </a:p>
        </p:txBody>
      </p:sp>
      <p:sp>
        <p:nvSpPr>
          <p:cNvPr id="65538" name="Rectangle 3"/>
          <p:cNvSpPr>
            <a:spLocks noGrp="1" noChangeArrowheads="1"/>
          </p:cNvSpPr>
          <p:nvPr>
            <p:ph idx="1"/>
          </p:nvPr>
        </p:nvSpPr>
        <p:spPr/>
        <p:txBody>
          <a:bodyPr/>
          <a:lstStyle/>
          <a:p>
            <a:pPr lvl="1"/>
            <a:r>
              <a:rPr lang="en-US" b="1" dirty="0">
                <a:solidFill>
                  <a:schemeClr val="tx2"/>
                </a:solidFill>
              </a:rPr>
              <a:t>Measure attributes</a:t>
            </a:r>
            <a:r>
              <a:rPr lang="en-US" dirty="0"/>
              <a:t> </a:t>
            </a:r>
          </a:p>
          <a:p>
            <a:pPr lvl="2"/>
            <a:r>
              <a:rPr lang="en-US" dirty="0"/>
              <a:t>measure some value and can be aggregated upon</a:t>
            </a:r>
          </a:p>
          <a:p>
            <a:pPr lvl="2"/>
            <a:r>
              <a:rPr lang="en-US" dirty="0"/>
              <a:t>e.g. the attribute </a:t>
            </a:r>
            <a:r>
              <a:rPr lang="en-US" i="1" dirty="0" smtClean="0"/>
              <a:t>quantity </a:t>
            </a:r>
            <a:r>
              <a:rPr lang="en-US" dirty="0"/>
              <a:t>of the </a:t>
            </a:r>
            <a:r>
              <a:rPr lang="en-US" i="1" dirty="0"/>
              <a:t>sales </a:t>
            </a:r>
            <a:r>
              <a:rPr lang="en-US" dirty="0"/>
              <a:t>relation (measure the number of sold item)</a:t>
            </a:r>
            <a:endParaRPr lang="en-US" b="1" dirty="0">
              <a:solidFill>
                <a:schemeClr val="tx2"/>
              </a:solidFill>
            </a:endParaRPr>
          </a:p>
          <a:p>
            <a:pPr lvl="1"/>
            <a:r>
              <a:rPr lang="en-US" b="1" dirty="0">
                <a:solidFill>
                  <a:schemeClr val="tx2"/>
                </a:solidFill>
              </a:rPr>
              <a:t>Dimension attributes</a:t>
            </a:r>
            <a:endParaRPr lang="en-US" dirty="0"/>
          </a:p>
          <a:p>
            <a:pPr lvl="2"/>
            <a:r>
              <a:rPr lang="en-US" dirty="0"/>
              <a:t>define the dimensions on which measure attributes (or aggregates thereof) are viewed</a:t>
            </a:r>
          </a:p>
          <a:p>
            <a:pPr lvl="2"/>
            <a:r>
              <a:rPr lang="en-US" dirty="0"/>
              <a:t>e.g. the attributes </a:t>
            </a:r>
            <a:r>
              <a:rPr lang="en-US" i="1" dirty="0" err="1"/>
              <a:t>item_name</a:t>
            </a:r>
            <a:r>
              <a:rPr lang="en-US" i="1" dirty="0"/>
              <a:t>, color, </a:t>
            </a:r>
            <a:r>
              <a:rPr lang="en-US" dirty="0"/>
              <a:t>and</a:t>
            </a:r>
            <a:r>
              <a:rPr lang="en-US" i="1" dirty="0"/>
              <a:t> </a:t>
            </a:r>
            <a:r>
              <a:rPr lang="en-US" i="1" dirty="0" err="1" smtClean="0"/>
              <a:t>cloths_size</a:t>
            </a:r>
            <a:r>
              <a:rPr lang="en-US" i="1" dirty="0" smtClean="0"/>
              <a:t> </a:t>
            </a:r>
            <a:r>
              <a:rPr lang="en-US" dirty="0"/>
              <a:t>of the </a:t>
            </a:r>
            <a:r>
              <a:rPr lang="en-US" i="1" dirty="0"/>
              <a:t>sales </a:t>
            </a:r>
            <a:r>
              <a:rPr lang="en-US" dirty="0"/>
              <a:t>relation. </a:t>
            </a:r>
          </a:p>
          <a:p>
            <a:r>
              <a:rPr lang="en-US" dirty="0"/>
              <a:t>Additional dimension may be </a:t>
            </a:r>
            <a:r>
              <a:rPr lang="en-US" i="1" dirty="0"/>
              <a:t>time</a:t>
            </a:r>
            <a:r>
              <a:rPr lang="en-US" dirty="0"/>
              <a:t> and </a:t>
            </a:r>
            <a:r>
              <a:rPr lang="en-US" i="1" dirty="0"/>
              <a:t>sales location</a:t>
            </a:r>
            <a:r>
              <a:rPr lang="en-US" dirty="0"/>
              <a:t> and additional measures may be </a:t>
            </a:r>
            <a:r>
              <a:rPr lang="en-US" i="1" dirty="0"/>
              <a:t>monetary value</a:t>
            </a:r>
          </a:p>
          <a:p>
            <a:r>
              <a:rPr lang="en-US" dirty="0"/>
              <a:t>Data that can be modeled as dimension attributes and measure attributes are called </a:t>
            </a:r>
            <a:r>
              <a:rPr lang="en-US" b="1" dirty="0">
                <a:solidFill>
                  <a:schemeClr val="tx2"/>
                </a:solidFill>
              </a:rPr>
              <a:t>multidimensional data</a:t>
            </a:r>
            <a:r>
              <a:rPr lang="en-US" dirty="0"/>
              <a:t>.</a:t>
            </a:r>
            <a:br>
              <a:rPr lang="en-US" dirty="0"/>
            </a:br>
            <a:endParaRPr lang="en-US" altLang="en-US" dirty="0"/>
          </a:p>
          <a:p>
            <a:endParaRPr lang="en-US" altLang="en-US" dirty="0"/>
          </a:p>
        </p:txBody>
      </p:sp>
    </p:spTree>
    <p:extLst>
      <p:ext uri="{BB962C8B-B14F-4D97-AF65-F5344CB8AC3E}">
        <p14:creationId xmlns:p14="http://schemas.microsoft.com/office/powerpoint/2010/main" val="31650322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r>
              <a:rPr lang="en-US" altLang="en-US" sz="2800" dirty="0">
                <a:effectLst>
                  <a:outerShdw blurRad="38100" dist="38100" dir="2700000" algn="tl">
                    <a:srgbClr val="C0C0C0"/>
                  </a:outerShdw>
                </a:effectLst>
              </a:rPr>
              <a:t>Example sales relation </a:t>
            </a:r>
          </a:p>
        </p:txBody>
      </p:sp>
      <p:sp>
        <p:nvSpPr>
          <p:cNvPr id="66563" name="Text Box 4"/>
          <p:cNvSpPr txBox="1">
            <a:spLocks noChangeArrowheads="1"/>
          </p:cNvSpPr>
          <p:nvPr/>
        </p:nvSpPr>
        <p:spPr bwMode="auto">
          <a:xfrm>
            <a:off x="2603500" y="5915025"/>
            <a:ext cx="355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a:t>...</a:t>
            </a:r>
          </a:p>
          <a:p>
            <a:r>
              <a:rPr lang="en-US" altLang="en-US"/>
              <a:t>...</a:t>
            </a:r>
          </a:p>
        </p:txBody>
      </p:sp>
      <p:sp>
        <p:nvSpPr>
          <p:cNvPr id="66564" name="Text Box 5"/>
          <p:cNvSpPr txBox="1">
            <a:spLocks noChangeArrowheads="1"/>
          </p:cNvSpPr>
          <p:nvPr/>
        </p:nvSpPr>
        <p:spPr bwMode="auto">
          <a:xfrm>
            <a:off x="3335338" y="5915025"/>
            <a:ext cx="355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dirty="0"/>
              <a:t>...</a:t>
            </a:r>
          </a:p>
          <a:p>
            <a:r>
              <a:rPr lang="en-US" altLang="en-US" dirty="0"/>
              <a:t>...</a:t>
            </a:r>
          </a:p>
        </p:txBody>
      </p:sp>
      <p:sp>
        <p:nvSpPr>
          <p:cNvPr id="66565" name="Text Box 6"/>
          <p:cNvSpPr txBox="1">
            <a:spLocks noChangeArrowheads="1"/>
          </p:cNvSpPr>
          <p:nvPr/>
        </p:nvSpPr>
        <p:spPr bwMode="auto">
          <a:xfrm>
            <a:off x="4000500" y="5924550"/>
            <a:ext cx="355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dirty="0"/>
              <a:t>...</a:t>
            </a:r>
          </a:p>
          <a:p>
            <a:r>
              <a:rPr lang="en-US" altLang="en-US" dirty="0"/>
              <a:t>...</a:t>
            </a:r>
          </a:p>
        </p:txBody>
      </p:sp>
      <p:sp>
        <p:nvSpPr>
          <p:cNvPr id="66566" name="Text Box 7"/>
          <p:cNvSpPr txBox="1">
            <a:spLocks noChangeArrowheads="1"/>
          </p:cNvSpPr>
          <p:nvPr/>
        </p:nvSpPr>
        <p:spPr bwMode="auto">
          <a:xfrm>
            <a:off x="4864100" y="5915025"/>
            <a:ext cx="355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dirty="0"/>
              <a:t>...</a:t>
            </a:r>
          </a:p>
          <a:p>
            <a:r>
              <a:rPr lang="en-US" altLang="en-US" dirty="0"/>
              <a:t>...</a:t>
            </a:r>
          </a:p>
        </p:txBody>
      </p:sp>
      <p:pic>
        <p:nvPicPr>
          <p:cNvPr id="3" name="Graphic 2">
            <a:extLst>
              <a:ext uri="{FF2B5EF4-FFF2-40B4-BE49-F238E27FC236}">
                <a16:creationId xmlns="" xmlns:a16="http://schemas.microsoft.com/office/drawing/2014/main" id="{2F968E01-89C3-418C-B14F-67C3B7B0FA91}"/>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t="6" b="22774"/>
          <a:stretch/>
        </p:blipFill>
        <p:spPr>
          <a:xfrm>
            <a:off x="3090069" y="814386"/>
            <a:ext cx="2963862" cy="5267165"/>
          </a:xfrm>
          <a:prstGeom prst="rect">
            <a:avLst/>
          </a:prstGeom>
        </p:spPr>
      </p:pic>
      <p:cxnSp>
        <p:nvCxnSpPr>
          <p:cNvPr id="5" name="Straight Connector 4">
            <a:extLst>
              <a:ext uri="{FF2B5EF4-FFF2-40B4-BE49-F238E27FC236}">
                <a16:creationId xmlns="" xmlns:a16="http://schemas.microsoft.com/office/drawing/2014/main" id="{A9406F66-B02C-435A-B8CA-9748F05C74C8}"/>
              </a:ext>
            </a:extLst>
          </p:cNvPr>
          <p:cNvCxnSpPr/>
          <p:nvPr/>
        </p:nvCxnSpPr>
        <p:spPr bwMode="auto">
          <a:xfrm>
            <a:off x="3781425" y="6081551"/>
            <a:ext cx="0" cy="385924"/>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a:xfrm>
            <a:off x="651641" y="12374"/>
            <a:ext cx="8492359" cy="695921"/>
          </a:xfrm>
        </p:spPr>
        <p:txBody>
          <a:bodyPr/>
          <a:lstStyle/>
          <a:p>
            <a:r>
              <a:rPr lang="en-US" altLang="en-US" sz="2800" dirty="0">
                <a:effectLst>
                  <a:outerShdw blurRad="38100" dist="38100" dir="2700000" algn="tl">
                    <a:srgbClr val="C0C0C0"/>
                  </a:outerShdw>
                </a:effectLst>
              </a:rPr>
              <a:t>Cross Tabulation of </a:t>
            </a:r>
            <a:r>
              <a:rPr lang="en-US" altLang="en-US" sz="2800" b="0" i="1" dirty="0">
                <a:effectLst>
                  <a:outerShdw blurRad="38100" dist="38100" dir="2700000" algn="tl">
                    <a:srgbClr val="C0C0C0"/>
                  </a:outerShdw>
                </a:effectLst>
              </a:rPr>
              <a:t>sales</a:t>
            </a:r>
            <a:r>
              <a:rPr lang="en-US" altLang="en-US" sz="2800" dirty="0">
                <a:effectLst>
                  <a:outerShdw blurRad="38100" dist="38100" dir="2700000" algn="tl">
                    <a:srgbClr val="C0C0C0"/>
                  </a:outerShdw>
                </a:effectLst>
              </a:rPr>
              <a:t> by </a:t>
            </a:r>
            <a:r>
              <a:rPr lang="en-US" altLang="en-US" sz="2800" b="0" i="1" dirty="0" err="1">
                <a:effectLst>
                  <a:outerShdw blurRad="38100" dist="38100" dir="2700000" algn="tl">
                    <a:srgbClr val="C0C0C0"/>
                  </a:outerShdw>
                </a:effectLst>
              </a:rPr>
              <a:t>item_name</a:t>
            </a:r>
            <a:r>
              <a:rPr lang="en-US" altLang="en-US" sz="2800" b="0" i="1" dirty="0">
                <a:effectLst>
                  <a:outerShdw blurRad="38100" dist="38100" dir="2700000" algn="tl">
                    <a:srgbClr val="C0C0C0"/>
                  </a:outerShdw>
                </a:effectLst>
              </a:rPr>
              <a:t> </a:t>
            </a:r>
            <a:r>
              <a:rPr lang="en-US" altLang="en-US" sz="2800" dirty="0">
                <a:effectLst>
                  <a:outerShdw blurRad="38100" dist="38100" dir="2700000" algn="tl">
                    <a:srgbClr val="C0C0C0"/>
                  </a:outerShdw>
                </a:effectLst>
              </a:rPr>
              <a:t>and </a:t>
            </a:r>
            <a:r>
              <a:rPr lang="en-US" altLang="en-US" sz="2800" b="0" i="1" dirty="0">
                <a:effectLst>
                  <a:outerShdw blurRad="38100" dist="38100" dir="2700000" algn="tl">
                    <a:srgbClr val="C0C0C0"/>
                  </a:outerShdw>
                </a:effectLst>
              </a:rPr>
              <a:t>color</a:t>
            </a:r>
          </a:p>
        </p:txBody>
      </p:sp>
      <p:sp>
        <p:nvSpPr>
          <p:cNvPr id="67586" name="Rectangle 3"/>
          <p:cNvSpPr>
            <a:spLocks noGrp="1" noChangeArrowheads="1"/>
          </p:cNvSpPr>
          <p:nvPr>
            <p:ph idx="1"/>
          </p:nvPr>
        </p:nvSpPr>
        <p:spPr>
          <a:xfrm>
            <a:off x="651641" y="3477285"/>
            <a:ext cx="8216134" cy="3123540"/>
          </a:xfrm>
        </p:spPr>
        <p:txBody>
          <a:bodyPr/>
          <a:lstStyle/>
          <a:p>
            <a:r>
              <a:rPr lang="en-US" altLang="en-US" dirty="0"/>
              <a:t>The table above is an example of a </a:t>
            </a:r>
            <a:r>
              <a:rPr lang="en-US" altLang="en-US" b="1" dirty="0">
                <a:solidFill>
                  <a:srgbClr val="002060"/>
                </a:solidFill>
              </a:rPr>
              <a:t>cross-tabulation</a:t>
            </a:r>
            <a:r>
              <a:rPr lang="en-US" altLang="en-US" dirty="0">
                <a:solidFill>
                  <a:srgbClr val="000099"/>
                </a:solidFill>
              </a:rPr>
              <a:t> </a:t>
            </a:r>
            <a:r>
              <a:rPr lang="en-US" altLang="en-US" dirty="0"/>
              <a:t>(</a:t>
            </a:r>
            <a:r>
              <a:rPr lang="en-US" altLang="en-US" b="1" dirty="0">
                <a:solidFill>
                  <a:srgbClr val="002060"/>
                </a:solidFill>
              </a:rPr>
              <a:t>cross-tab</a:t>
            </a:r>
            <a:r>
              <a:rPr lang="en-US" altLang="en-US" dirty="0"/>
              <a:t>), also referred to as a </a:t>
            </a:r>
            <a:r>
              <a:rPr lang="en-US" altLang="en-US" b="1" dirty="0">
                <a:solidFill>
                  <a:srgbClr val="002060"/>
                </a:solidFill>
              </a:rPr>
              <a:t>pivot-table</a:t>
            </a:r>
            <a:r>
              <a:rPr lang="en-US" altLang="en-US" dirty="0" smtClean="0"/>
              <a:t>. I</a:t>
            </a:r>
            <a:r>
              <a:rPr lang="en-US" dirty="0" smtClean="0"/>
              <a:t>n </a:t>
            </a:r>
            <a:r>
              <a:rPr lang="en-US" dirty="0"/>
              <a:t>general, a cross-tab is a table derived from a </a:t>
            </a:r>
            <a:r>
              <a:rPr lang="en-US" dirty="0" smtClean="0"/>
              <a:t>relation, where </a:t>
            </a:r>
            <a:endParaRPr lang="en-US" altLang="en-US" dirty="0"/>
          </a:p>
          <a:p>
            <a:pPr lvl="1"/>
            <a:r>
              <a:rPr lang="en-US" altLang="en-US" dirty="0"/>
              <a:t>Values for one of the dimension attributes form the row headers</a:t>
            </a:r>
          </a:p>
          <a:p>
            <a:pPr lvl="1"/>
            <a:r>
              <a:rPr lang="en-US" altLang="en-US" dirty="0"/>
              <a:t>Values for another dimension attribute form the column headers</a:t>
            </a:r>
          </a:p>
          <a:p>
            <a:pPr lvl="1"/>
            <a:r>
              <a:rPr lang="en-US" altLang="en-US" dirty="0"/>
              <a:t>Other dimension attributes are listed on top</a:t>
            </a:r>
          </a:p>
          <a:p>
            <a:pPr lvl="1"/>
            <a:r>
              <a:rPr lang="en-US" altLang="en-US" dirty="0"/>
              <a:t>Values in individual cells are (aggregates of) the values of the </a:t>
            </a:r>
            <a:br>
              <a:rPr lang="en-US" altLang="en-US" dirty="0"/>
            </a:br>
            <a:r>
              <a:rPr lang="en-US" altLang="en-US" dirty="0"/>
              <a:t>dimension attributes that specify the cell</a:t>
            </a:r>
            <a:r>
              <a:rPr lang="en-US" altLang="en-US" dirty="0" smtClean="0"/>
              <a:t>.</a:t>
            </a:r>
          </a:p>
          <a:p>
            <a:pPr lvl="1"/>
            <a:r>
              <a:rPr lang="en-US" dirty="0"/>
              <a:t>Most of the cross-tab also has an extra column and row showing the totals of the cell in the row/column</a:t>
            </a:r>
            <a:endParaRPr lang="en-US" altLang="en-US" dirty="0"/>
          </a:p>
        </p:txBody>
      </p:sp>
      <p:pic>
        <p:nvPicPr>
          <p:cNvPr id="675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8798" y="823416"/>
            <a:ext cx="5523135" cy="249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Data Cube</a:t>
            </a:r>
          </a:p>
        </p:txBody>
      </p:sp>
      <p:sp>
        <p:nvSpPr>
          <p:cNvPr id="2" name="Content Placeholder 1">
            <a:extLst>
              <a:ext uri="{FF2B5EF4-FFF2-40B4-BE49-F238E27FC236}">
                <a16:creationId xmlns="" xmlns:a16="http://schemas.microsoft.com/office/drawing/2014/main" id="{58382D0F-CF6A-4640-9BEC-A14A6562B0AE}"/>
              </a:ext>
            </a:extLst>
          </p:cNvPr>
          <p:cNvSpPr>
            <a:spLocks noGrp="1"/>
          </p:cNvSpPr>
          <p:nvPr>
            <p:ph idx="1"/>
          </p:nvPr>
        </p:nvSpPr>
        <p:spPr>
          <a:xfrm>
            <a:off x="663575" y="1009650"/>
            <a:ext cx="7779090" cy="1143000"/>
          </a:xfrm>
        </p:spPr>
        <p:txBody>
          <a:bodyPr/>
          <a:lstStyle/>
          <a:p>
            <a:r>
              <a:rPr lang="en-US" dirty="0"/>
              <a:t>A </a:t>
            </a:r>
            <a:r>
              <a:rPr lang="en-US" b="1" dirty="0">
                <a:solidFill>
                  <a:srgbClr val="002060"/>
                </a:solidFill>
              </a:rPr>
              <a:t>data cube</a:t>
            </a:r>
            <a:r>
              <a:rPr lang="en-US" dirty="0">
                <a:solidFill>
                  <a:srgbClr val="002060"/>
                </a:solidFill>
              </a:rPr>
              <a:t> </a:t>
            </a:r>
            <a:r>
              <a:rPr lang="en-US" dirty="0"/>
              <a:t>is a multidimensional generalization of a cross-tab</a:t>
            </a:r>
          </a:p>
          <a:p>
            <a:r>
              <a:rPr lang="en-US" dirty="0"/>
              <a:t>Can have n  dimensions; we show 3 below </a:t>
            </a:r>
          </a:p>
          <a:p>
            <a:r>
              <a:rPr lang="en-US" dirty="0"/>
              <a:t>Cross-tabs can be used as views on a data </a:t>
            </a:r>
            <a:r>
              <a:rPr lang="en-US" dirty="0" smtClean="0"/>
              <a:t>cube</a:t>
            </a:r>
            <a:endParaRPr lang="en-IN" dirty="0"/>
          </a:p>
        </p:txBody>
      </p:sp>
      <p:sp>
        <p:nvSpPr>
          <p:cNvPr id="68610" name="Rectangle 3"/>
          <p:cNvSpPr>
            <a:spLocks noChangeArrowheads="1"/>
          </p:cNvSpPr>
          <p:nvPr/>
        </p:nvSpPr>
        <p:spPr bwMode="auto">
          <a:xfrm>
            <a:off x="419100" y="5059363"/>
            <a:ext cx="8181975"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kumimoji="1" lang="en-US" altLang="en-US" sz="2000" b="1"/>
          </a:p>
        </p:txBody>
      </p:sp>
      <p:sp>
        <p:nvSpPr>
          <p:cNvPr id="68611" name="Rectangle 4"/>
          <p:cNvSpPr>
            <a:spLocks noChangeArrowheads="1"/>
          </p:cNvSpPr>
          <p:nvPr/>
        </p:nvSpPr>
        <p:spPr bwMode="auto">
          <a:xfrm>
            <a:off x="889000" y="939800"/>
            <a:ext cx="78962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nSpc>
                <a:spcPct val="90000"/>
              </a:lnSpc>
              <a:spcBef>
                <a:spcPct val="35000"/>
              </a:spcBef>
              <a:buClr>
                <a:schemeClr val="tx2"/>
              </a:buClr>
              <a:buSzPct val="90000"/>
              <a:buFont typeface="Monotype Sorts" charset="2"/>
              <a:buChar char="n"/>
            </a:pPr>
            <a:endParaRPr kumimoji="1" lang="en-US" altLang="en-US" sz="2000" dirty="0"/>
          </a:p>
        </p:txBody>
      </p:sp>
      <p:pic>
        <p:nvPicPr>
          <p:cNvPr id="4" name="Graphic 3">
            <a:extLst>
              <a:ext uri="{FF2B5EF4-FFF2-40B4-BE49-F238E27FC236}">
                <a16:creationId xmlns="" xmlns:a16="http://schemas.microsoft.com/office/drawing/2014/main" id="{BAE5197E-3FB0-44A0-B2ED-F826BD88089C}"/>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1451201" y="2503715"/>
            <a:ext cx="5809693" cy="3946526"/>
          </a:xfrm>
          <a:prstGeom prst="rect">
            <a:avLst/>
          </a:prstGeom>
        </p:spPr>
      </p:pic>
      <p:sp>
        <p:nvSpPr>
          <p:cNvPr id="7" name="Content Placeholder 1">
            <a:extLst>
              <a:ext uri="{FF2B5EF4-FFF2-40B4-BE49-F238E27FC236}">
                <a16:creationId xmlns="" xmlns:a16="http://schemas.microsoft.com/office/drawing/2014/main" id="{58382D0F-CF6A-4640-9BEC-A14A6562B0AE}"/>
              </a:ext>
            </a:extLst>
          </p:cNvPr>
          <p:cNvSpPr txBox="1">
            <a:spLocks/>
          </p:cNvSpPr>
          <p:nvPr/>
        </p:nvSpPr>
        <p:spPr bwMode="auto">
          <a:xfrm>
            <a:off x="720725" y="2769372"/>
            <a:ext cx="2774950" cy="3364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endParaRPr lang="en-US"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r>
              <a:rPr lang="en-US" altLang="en-US" dirty="0" smtClean="0">
                <a:effectLst>
                  <a:outerShdw blurRad="38100" dist="38100" dir="2700000" algn="tl">
                    <a:srgbClr val="C0C0C0"/>
                  </a:outerShdw>
                </a:effectLst>
              </a:rPr>
              <a:t>Data Cube</a:t>
            </a:r>
            <a:endParaRPr lang="en-US" altLang="en-US" dirty="0">
              <a:effectLst>
                <a:outerShdw blurRad="38100" dist="38100" dir="2700000" algn="tl">
                  <a:srgbClr val="C0C0C0"/>
                </a:outerShdw>
              </a:effectLst>
            </a:endParaRPr>
          </a:p>
        </p:txBody>
      </p:sp>
      <p:sp>
        <p:nvSpPr>
          <p:cNvPr id="77826" name="Rectangle 3"/>
          <p:cNvSpPr>
            <a:spLocks noGrp="1" noChangeArrowheads="1"/>
          </p:cNvSpPr>
          <p:nvPr>
            <p:ph idx="1"/>
          </p:nvPr>
        </p:nvSpPr>
        <p:spPr>
          <a:xfrm>
            <a:off x="685800" y="1102497"/>
            <a:ext cx="7843058" cy="4348392"/>
          </a:xfrm>
        </p:spPr>
        <p:txBody>
          <a:bodyPr/>
          <a:lstStyle/>
          <a:p>
            <a:r>
              <a:rPr lang="en-US" dirty="0"/>
              <a:t>Each cell in the data cube contains a value, just as in a cross-tab. The value contained in a cell is shown on one of the faces of the cell; other faces of the cell are shown blank if they are visible. All cells contains values, even if they are not visible</a:t>
            </a:r>
            <a:r>
              <a:rPr lang="en-US" dirty="0" smtClean="0"/>
              <a:t>.</a:t>
            </a:r>
          </a:p>
          <a:p>
            <a:r>
              <a:rPr lang="en-US" dirty="0"/>
              <a:t>The value for a dimension may be all, in which case the cell contains a summary over all the values of that dimension, as in the case of cross-tab.</a:t>
            </a:r>
          </a:p>
          <a:p>
            <a:r>
              <a:rPr lang="en-US" dirty="0"/>
              <a:t>The number of different ways in which the tuples can be grouped for aggregation can be large. In fact, for a table with n dimensions, aggregation can be performed with grouping on each of the 2</a:t>
            </a:r>
            <a:r>
              <a:rPr lang="en-US" baseline="30000" dirty="0"/>
              <a:t>n</a:t>
            </a:r>
            <a:r>
              <a:rPr lang="en-US" dirty="0"/>
              <a:t> subsets of the n dimensions.</a:t>
            </a:r>
            <a:endParaRPr lang="en-US" altLang="en-US" dirty="0"/>
          </a:p>
          <a:p>
            <a:endParaRPr lang="en-US" altLang="en-US" dirty="0"/>
          </a:p>
        </p:txBody>
      </p:sp>
    </p:spTree>
    <p:extLst>
      <p:ext uri="{BB962C8B-B14F-4D97-AF65-F5344CB8AC3E}">
        <p14:creationId xmlns:p14="http://schemas.microsoft.com/office/powerpoint/2010/main" val="1251845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Online Analytical Processing Operations</a:t>
            </a:r>
          </a:p>
        </p:txBody>
      </p:sp>
      <p:sp>
        <p:nvSpPr>
          <p:cNvPr id="77826" name="Rectangle 3"/>
          <p:cNvSpPr>
            <a:spLocks noGrp="1" noChangeArrowheads="1"/>
          </p:cNvSpPr>
          <p:nvPr>
            <p:ph idx="1"/>
          </p:nvPr>
        </p:nvSpPr>
        <p:spPr>
          <a:xfrm>
            <a:off x="685800" y="1102496"/>
            <a:ext cx="7843058" cy="5364979"/>
          </a:xfrm>
        </p:spPr>
        <p:txBody>
          <a:bodyPr/>
          <a:lstStyle/>
          <a:p>
            <a:pPr>
              <a:lnSpc>
                <a:spcPct val="90000"/>
              </a:lnSpc>
            </a:pPr>
            <a:r>
              <a:rPr lang="en-US" dirty="0"/>
              <a:t>An </a:t>
            </a:r>
            <a:r>
              <a:rPr lang="en-US" dirty="0">
                <a:solidFill>
                  <a:schemeClr val="tx2"/>
                </a:solidFill>
              </a:rPr>
              <a:t>online analytical processing</a:t>
            </a:r>
            <a:r>
              <a:rPr lang="en-US" dirty="0"/>
              <a:t> or </a:t>
            </a:r>
            <a:r>
              <a:rPr lang="en-US" dirty="0">
                <a:solidFill>
                  <a:schemeClr val="tx2"/>
                </a:solidFill>
              </a:rPr>
              <a:t>OLAP</a:t>
            </a:r>
            <a:r>
              <a:rPr lang="en-US" dirty="0"/>
              <a:t> system is an interactive system that permits an analyst to view different summaries of multidimensional data. </a:t>
            </a:r>
            <a:endParaRPr lang="en-US" dirty="0" smtClean="0"/>
          </a:p>
          <a:p>
            <a:pPr>
              <a:lnSpc>
                <a:spcPct val="90000"/>
              </a:lnSpc>
            </a:pPr>
            <a:r>
              <a:rPr lang="en-US" dirty="0" smtClean="0"/>
              <a:t>The </a:t>
            </a:r>
            <a:r>
              <a:rPr lang="en-US" dirty="0"/>
              <a:t>word </a:t>
            </a:r>
            <a:r>
              <a:rPr lang="en-US" i="1" dirty="0"/>
              <a:t>online</a:t>
            </a:r>
            <a:r>
              <a:rPr lang="en-US" dirty="0"/>
              <a:t> indicates that an analyst must be able to request new summaries and get responses online, within few seconds and should not be forced to wait for a long time to see the result of the query.</a:t>
            </a:r>
          </a:p>
          <a:p>
            <a:pPr>
              <a:lnSpc>
                <a:spcPct val="90000"/>
              </a:lnSpc>
            </a:pPr>
            <a:r>
              <a:rPr lang="en-US" dirty="0"/>
              <a:t>With an OLAP system, a data analyst can look at different cross-tabs on the same data by interactively selecting the attributes in the cross-tabs. </a:t>
            </a:r>
            <a:endParaRPr lang="en-US" dirty="0" smtClean="0"/>
          </a:p>
          <a:p>
            <a:pPr>
              <a:lnSpc>
                <a:spcPct val="90000"/>
              </a:lnSpc>
            </a:pPr>
            <a:r>
              <a:rPr lang="en-US" dirty="0" smtClean="0"/>
              <a:t>For </a:t>
            </a:r>
            <a:r>
              <a:rPr lang="en-US" dirty="0"/>
              <a:t>instance, the analyst may wish to see a cross-tab on </a:t>
            </a:r>
            <a:endParaRPr lang="en-US" dirty="0" smtClean="0"/>
          </a:p>
          <a:p>
            <a:pPr lvl="1">
              <a:lnSpc>
                <a:spcPct val="90000"/>
              </a:lnSpc>
            </a:pPr>
            <a:r>
              <a:rPr lang="en-US" i="1" dirty="0" smtClean="0"/>
              <a:t>item-name</a:t>
            </a:r>
            <a:r>
              <a:rPr lang="en-US" dirty="0" smtClean="0"/>
              <a:t> </a:t>
            </a:r>
            <a:r>
              <a:rPr lang="en-US" dirty="0"/>
              <a:t>and </a:t>
            </a:r>
            <a:r>
              <a:rPr lang="en-US" i="1" dirty="0"/>
              <a:t>size</a:t>
            </a:r>
            <a:r>
              <a:rPr lang="en-US" dirty="0"/>
              <a:t> or  </a:t>
            </a:r>
            <a:r>
              <a:rPr lang="en-US" i="1" dirty="0" smtClean="0"/>
              <a:t>color</a:t>
            </a:r>
            <a:r>
              <a:rPr lang="en-US" dirty="0" smtClean="0"/>
              <a:t> </a:t>
            </a:r>
            <a:r>
              <a:rPr lang="en-US" dirty="0"/>
              <a:t>and </a:t>
            </a:r>
            <a:r>
              <a:rPr lang="en-US" i="1" dirty="0"/>
              <a:t>size </a:t>
            </a:r>
            <a:r>
              <a:rPr lang="en-US" dirty="0"/>
              <a:t>or </a:t>
            </a:r>
            <a:r>
              <a:rPr lang="en-US" i="1" dirty="0" smtClean="0"/>
              <a:t>color</a:t>
            </a:r>
            <a:r>
              <a:rPr lang="en-US" dirty="0" smtClean="0"/>
              <a:t> </a:t>
            </a:r>
            <a:r>
              <a:rPr lang="en-US" dirty="0"/>
              <a:t>and </a:t>
            </a:r>
            <a:r>
              <a:rPr lang="en-US" i="1" dirty="0"/>
              <a:t>item-name</a:t>
            </a:r>
            <a:r>
              <a:rPr lang="en-US" dirty="0"/>
              <a:t>. </a:t>
            </a:r>
          </a:p>
          <a:p>
            <a:r>
              <a:rPr lang="en-US" altLang="en-US" b="1" dirty="0" smtClean="0">
                <a:solidFill>
                  <a:srgbClr val="002060"/>
                </a:solidFill>
              </a:rPr>
              <a:t>Pivoting</a:t>
            </a:r>
            <a:r>
              <a:rPr lang="en-US" altLang="en-US" b="1" dirty="0">
                <a:solidFill>
                  <a:srgbClr val="000099"/>
                </a:solidFill>
              </a:rPr>
              <a:t>:</a:t>
            </a:r>
            <a:r>
              <a:rPr lang="en-US" altLang="en-US" dirty="0">
                <a:solidFill>
                  <a:schemeClr val="tx2"/>
                </a:solidFill>
              </a:rPr>
              <a:t> </a:t>
            </a:r>
            <a:r>
              <a:rPr lang="en-US" altLang="en-US" dirty="0" smtClean="0"/>
              <a:t>changing the dimensions used in a cross-tab</a:t>
            </a:r>
            <a:endParaRPr lang="en-US" altLang="en-US" dirty="0"/>
          </a:p>
          <a:p>
            <a:pPr lvl="1"/>
            <a:r>
              <a:rPr lang="en-US" altLang="en-US" dirty="0"/>
              <a:t>E.g., moving colors to column </a:t>
            </a:r>
            <a:r>
              <a:rPr lang="en-US" altLang="en-US" dirty="0" smtClean="0"/>
              <a:t>names</a:t>
            </a:r>
          </a:p>
          <a:p>
            <a:r>
              <a:rPr lang="en-US" altLang="en-US" b="1" dirty="0">
                <a:solidFill>
                  <a:srgbClr val="002060"/>
                </a:solidFill>
              </a:rPr>
              <a:t>Slicing</a:t>
            </a:r>
            <a:r>
              <a:rPr lang="en-US" altLang="en-US" b="1" dirty="0">
                <a:solidFill>
                  <a:srgbClr val="000099"/>
                </a:solidFill>
              </a:rPr>
              <a:t>:</a:t>
            </a:r>
            <a:r>
              <a:rPr lang="en-US" altLang="en-US" dirty="0"/>
              <a:t> creating a cross-tab for fixed values only</a:t>
            </a:r>
            <a:endParaRPr lang="en-US" altLang="en-US" b="1" dirty="0"/>
          </a:p>
          <a:p>
            <a:pPr lvl="1"/>
            <a:r>
              <a:rPr lang="en-US" altLang="en-US" dirty="0"/>
              <a:t>E.g., </a:t>
            </a:r>
            <a:r>
              <a:rPr lang="en-US" dirty="0"/>
              <a:t>a cross-tab on </a:t>
            </a:r>
            <a:r>
              <a:rPr lang="en-US" i="1" dirty="0"/>
              <a:t>item-name</a:t>
            </a:r>
            <a:r>
              <a:rPr lang="en-US" dirty="0"/>
              <a:t> and </a:t>
            </a:r>
            <a:r>
              <a:rPr lang="en-US" i="1" dirty="0"/>
              <a:t>color</a:t>
            </a:r>
            <a:r>
              <a:rPr lang="en-US" dirty="0"/>
              <a:t> for a fixed value of </a:t>
            </a:r>
            <a:r>
              <a:rPr lang="en-US" i="1" dirty="0"/>
              <a:t>size</a:t>
            </a:r>
            <a:r>
              <a:rPr lang="en-US" dirty="0"/>
              <a:t> (say large), instead of the sum across all </a:t>
            </a:r>
            <a:r>
              <a:rPr lang="en-US" i="1" dirty="0"/>
              <a:t>sizes</a:t>
            </a:r>
            <a:r>
              <a:rPr lang="en-US" dirty="0"/>
              <a:t>. It can be thought of as viewing a slice of a data cube</a:t>
            </a:r>
            <a:endParaRPr lang="en-US" altLang="en-US" dirty="0"/>
          </a:p>
          <a:p>
            <a:pPr lvl="1"/>
            <a:r>
              <a:rPr lang="en-US" altLang="en-US" dirty="0"/>
              <a:t>Sometimes called </a:t>
            </a:r>
            <a:r>
              <a:rPr lang="en-US" altLang="en-US" b="1" dirty="0">
                <a:solidFill>
                  <a:srgbClr val="002060"/>
                </a:solidFill>
              </a:rPr>
              <a:t>dicing</a:t>
            </a:r>
            <a:r>
              <a:rPr lang="en-US" altLang="en-US" dirty="0"/>
              <a:t>, particularly when values for multiple dimensions are fixed.</a:t>
            </a:r>
          </a:p>
          <a:p>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Online Analytical Processing Operations</a:t>
            </a:r>
          </a:p>
        </p:txBody>
      </p:sp>
      <p:sp>
        <p:nvSpPr>
          <p:cNvPr id="77826" name="Rectangle 3"/>
          <p:cNvSpPr>
            <a:spLocks noGrp="1" noChangeArrowheads="1"/>
          </p:cNvSpPr>
          <p:nvPr>
            <p:ph idx="1"/>
          </p:nvPr>
        </p:nvSpPr>
        <p:spPr>
          <a:xfrm>
            <a:off x="685800" y="1102497"/>
            <a:ext cx="7843058" cy="5060178"/>
          </a:xfrm>
        </p:spPr>
        <p:txBody>
          <a:bodyPr/>
          <a:lstStyle/>
          <a:p>
            <a:r>
              <a:rPr lang="en-US" dirty="0"/>
              <a:t>When a cross-tab is used to view a multidimensional cube, the values of dimension attributes that are not part of the cross-tab are shown above the cross-tab. The value of such an attribute can be </a:t>
            </a:r>
            <a:r>
              <a:rPr lang="en-US" b="1" dirty="0"/>
              <a:t>all</a:t>
            </a:r>
            <a:r>
              <a:rPr lang="en-US" dirty="0"/>
              <a:t>, indicating that the data in the cross-tab are a summary over all values of the attribute. Slicing/dicing simply consists of selecting specific values for these attributes, which are then displayed on top of the cross-tab</a:t>
            </a:r>
            <a:r>
              <a:rPr lang="en-US" dirty="0" smtClean="0"/>
              <a:t>.</a:t>
            </a:r>
            <a:endParaRPr lang="en-US" altLang="en-US" b="1" dirty="0">
              <a:solidFill>
                <a:srgbClr val="002060"/>
              </a:solidFill>
            </a:endParaRPr>
          </a:p>
          <a:p>
            <a:r>
              <a:rPr lang="en-US" altLang="en-US" b="1" dirty="0" smtClean="0">
                <a:solidFill>
                  <a:srgbClr val="002060"/>
                </a:solidFill>
              </a:rPr>
              <a:t>Rollup</a:t>
            </a:r>
            <a:r>
              <a:rPr lang="en-US" altLang="en-US" b="1" dirty="0">
                <a:solidFill>
                  <a:srgbClr val="000099"/>
                </a:solidFill>
              </a:rPr>
              <a:t>:</a:t>
            </a:r>
            <a:r>
              <a:rPr lang="en-US" altLang="en-US" dirty="0"/>
              <a:t> </a:t>
            </a:r>
            <a:r>
              <a:rPr lang="en-US" dirty="0"/>
              <a:t>OLAP system permits users to view data at any desired level of granularity. The operation of moving from finer-granularity data to a coarser granularity (by means of aggregation) is called a rollup.</a:t>
            </a:r>
            <a:endParaRPr lang="en-US" altLang="en-US" dirty="0"/>
          </a:p>
          <a:p>
            <a:pPr lvl="1"/>
            <a:r>
              <a:rPr lang="en-US" altLang="en-US" dirty="0"/>
              <a:t>E.g., aggregating away an attribute</a:t>
            </a:r>
          </a:p>
          <a:p>
            <a:pPr lvl="1"/>
            <a:r>
              <a:rPr lang="en-US" altLang="en-US" dirty="0"/>
              <a:t>E.g., moving from aggregates by day to aggregates by month or year</a:t>
            </a:r>
          </a:p>
          <a:p>
            <a:r>
              <a:rPr lang="en-US" altLang="en-US" b="1" dirty="0">
                <a:solidFill>
                  <a:srgbClr val="002060"/>
                </a:solidFill>
              </a:rPr>
              <a:t>Drill down</a:t>
            </a:r>
            <a:r>
              <a:rPr lang="en-US" altLang="en-US" b="1" dirty="0">
                <a:solidFill>
                  <a:srgbClr val="000099"/>
                </a:solidFill>
              </a:rPr>
              <a:t>:</a:t>
            </a:r>
            <a:r>
              <a:rPr lang="en-US" altLang="en-US" dirty="0"/>
              <a:t> The opposite operation -  that of moving from coarser-granularity data to finer-granularity </a:t>
            </a:r>
            <a:r>
              <a:rPr lang="en-US" altLang="en-US" dirty="0" smtClean="0"/>
              <a:t>data</a:t>
            </a:r>
          </a:p>
          <a:p>
            <a:r>
              <a:rPr lang="en-US" dirty="0"/>
              <a:t>Clearly, finer-granularity data can not be generated from coarse-granularity data; they must be generated either from the original data or from even finer-granularity summary data.</a:t>
            </a:r>
            <a:endParaRPr lang="en-US" altLang="en-US" dirty="0"/>
          </a:p>
          <a:p>
            <a:endParaRPr lang="en-US" altLang="en-US" dirty="0"/>
          </a:p>
        </p:txBody>
      </p:sp>
    </p:spTree>
    <p:extLst>
      <p:ext uri="{BB962C8B-B14F-4D97-AF65-F5344CB8AC3E}">
        <p14:creationId xmlns:p14="http://schemas.microsoft.com/office/powerpoint/2010/main" val="2201951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Hierarchies on Dimensions</a:t>
            </a:r>
          </a:p>
        </p:txBody>
      </p:sp>
      <p:sp>
        <p:nvSpPr>
          <p:cNvPr id="2" name="Content Placeholder 1">
            <a:extLst>
              <a:ext uri="{FF2B5EF4-FFF2-40B4-BE49-F238E27FC236}">
                <a16:creationId xmlns="" xmlns:a16="http://schemas.microsoft.com/office/drawing/2014/main" id="{E832A65C-9FC2-4C12-88AE-A0D7664BF9F1}"/>
              </a:ext>
            </a:extLst>
          </p:cNvPr>
          <p:cNvSpPr>
            <a:spLocks noGrp="1"/>
          </p:cNvSpPr>
          <p:nvPr>
            <p:ph idx="1"/>
          </p:nvPr>
        </p:nvSpPr>
        <p:spPr>
          <a:xfrm>
            <a:off x="685800" y="1102497"/>
            <a:ext cx="7783497" cy="5367972"/>
          </a:xfrm>
        </p:spPr>
        <p:txBody>
          <a:bodyPr/>
          <a:lstStyle/>
          <a:p>
            <a:r>
              <a:rPr lang="en-US" b="1" dirty="0">
                <a:solidFill>
                  <a:srgbClr val="002060"/>
                </a:solidFill>
              </a:rPr>
              <a:t>Hierarchy</a:t>
            </a:r>
            <a:r>
              <a:rPr lang="en-US" dirty="0"/>
              <a:t> on dimension attributes: lets dimensions be viewed at different levels of detail</a:t>
            </a:r>
          </a:p>
          <a:p>
            <a:r>
              <a:rPr lang="en-US" dirty="0"/>
              <a:t>E.g., the dimension </a:t>
            </a:r>
            <a:r>
              <a:rPr lang="en-US" i="1" dirty="0"/>
              <a:t>datetime</a:t>
            </a:r>
            <a:r>
              <a:rPr lang="en-US" dirty="0"/>
              <a:t> can be used to aggregate by hour of day, date, day of week, month, quarter or year</a:t>
            </a:r>
          </a:p>
          <a:p>
            <a:pPr marL="0" indent="0">
              <a:buNone/>
            </a:pPr>
            <a:endParaRPr lang="en-IN" dirty="0"/>
          </a:p>
        </p:txBody>
      </p:sp>
      <p:pic>
        <p:nvPicPr>
          <p:cNvPr id="3" name="Graphic 2">
            <a:extLst>
              <a:ext uri="{FF2B5EF4-FFF2-40B4-BE49-F238E27FC236}">
                <a16:creationId xmlns="" xmlns:a16="http://schemas.microsoft.com/office/drawing/2014/main" id="{124AE1D9-DC79-45CF-B687-11274D1173A5}"/>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30322" y="2445745"/>
            <a:ext cx="6042060" cy="3973473"/>
          </a:xfrm>
          <a:prstGeom prst="rect">
            <a:avLst/>
          </a:prstGeom>
        </p:spPr>
      </p:pic>
      <p:sp>
        <p:nvSpPr>
          <p:cNvPr id="5" name="Text Box 5"/>
          <p:cNvSpPr txBox="1">
            <a:spLocks noChangeArrowheads="1"/>
          </p:cNvSpPr>
          <p:nvPr/>
        </p:nvSpPr>
        <p:spPr bwMode="auto">
          <a:xfrm>
            <a:off x="6591300" y="3338513"/>
            <a:ext cx="2155825" cy="308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charset="0"/>
              </a:defRPr>
            </a:lvl1pPr>
            <a:lvl2pPr marL="742950" indent="-285750">
              <a:defRPr sz="1600">
                <a:solidFill>
                  <a:schemeClr val="tx1"/>
                </a:solidFill>
                <a:latin typeface="Helvetica" charset="0"/>
              </a:defRPr>
            </a:lvl2pPr>
            <a:lvl3pPr marL="1143000" indent="-228600">
              <a:defRPr sz="1600">
                <a:solidFill>
                  <a:schemeClr val="tx1"/>
                </a:solidFill>
                <a:latin typeface="Helvetica" charset="0"/>
              </a:defRPr>
            </a:lvl3pPr>
            <a:lvl4pPr marL="1600200" indent="-228600">
              <a:defRPr sz="1600">
                <a:solidFill>
                  <a:schemeClr val="tx1"/>
                </a:solidFill>
                <a:latin typeface="Helvetica" charset="0"/>
              </a:defRPr>
            </a:lvl4pPr>
            <a:lvl5pPr marL="2057400" indent="-228600">
              <a:defRPr sz="1600">
                <a:solidFill>
                  <a:schemeClr val="tx1"/>
                </a:solidFill>
                <a:latin typeface="Helvetica" charset="0"/>
              </a:defRPr>
            </a:lvl5pPr>
            <a:lvl6pPr marL="2514600" indent="-228600" eaLnBrk="0" fontAlgn="base" hangingPunct="0">
              <a:spcBef>
                <a:spcPct val="0"/>
              </a:spcBef>
              <a:spcAft>
                <a:spcPct val="0"/>
              </a:spcAft>
              <a:defRPr sz="1600">
                <a:solidFill>
                  <a:schemeClr val="tx1"/>
                </a:solidFill>
                <a:latin typeface="Helvetica" charset="0"/>
              </a:defRPr>
            </a:lvl6pPr>
            <a:lvl7pPr marL="2971800" indent="-228600" eaLnBrk="0" fontAlgn="base" hangingPunct="0">
              <a:spcBef>
                <a:spcPct val="0"/>
              </a:spcBef>
              <a:spcAft>
                <a:spcPct val="0"/>
              </a:spcAft>
              <a:defRPr sz="1600">
                <a:solidFill>
                  <a:schemeClr val="tx1"/>
                </a:solidFill>
                <a:latin typeface="Helvetica" charset="0"/>
              </a:defRPr>
            </a:lvl7pPr>
            <a:lvl8pPr marL="3429000" indent="-228600" eaLnBrk="0" fontAlgn="base" hangingPunct="0">
              <a:spcBef>
                <a:spcPct val="0"/>
              </a:spcBef>
              <a:spcAft>
                <a:spcPct val="0"/>
              </a:spcAft>
              <a:defRPr sz="1600">
                <a:solidFill>
                  <a:schemeClr val="tx1"/>
                </a:solidFill>
                <a:latin typeface="Helvetica" charset="0"/>
              </a:defRPr>
            </a:lvl8pPr>
            <a:lvl9pPr marL="3886200" indent="-228600" eaLnBrk="0" fontAlgn="base" hangingPunct="0">
              <a:spcBef>
                <a:spcPct val="0"/>
              </a:spcBef>
              <a:spcAft>
                <a:spcPct val="0"/>
              </a:spcAft>
              <a:defRPr sz="1600">
                <a:solidFill>
                  <a:schemeClr val="tx1"/>
                </a:solidFill>
                <a:latin typeface="Helvetica" charset="0"/>
              </a:defRPr>
            </a:lvl9pPr>
          </a:lstStyle>
          <a:p>
            <a:pPr>
              <a:spcBef>
                <a:spcPct val="50000"/>
              </a:spcBef>
            </a:pPr>
            <a:r>
              <a:rPr lang="en-US" dirty="0"/>
              <a:t>Cloths</a:t>
            </a:r>
          </a:p>
          <a:p>
            <a:pPr>
              <a:spcBef>
                <a:spcPct val="50000"/>
              </a:spcBef>
            </a:pPr>
            <a:endParaRPr lang="en-US" dirty="0"/>
          </a:p>
          <a:p>
            <a:pPr>
              <a:spcBef>
                <a:spcPct val="50000"/>
              </a:spcBef>
            </a:pPr>
            <a:r>
              <a:rPr lang="en-US" dirty="0"/>
              <a:t>Category</a:t>
            </a:r>
          </a:p>
          <a:p>
            <a:pPr>
              <a:spcBef>
                <a:spcPct val="50000"/>
              </a:spcBef>
            </a:pPr>
            <a:endParaRPr lang="en-US" dirty="0"/>
          </a:p>
          <a:p>
            <a:pPr>
              <a:spcBef>
                <a:spcPct val="50000"/>
              </a:spcBef>
            </a:pPr>
            <a:r>
              <a:rPr lang="en-US" dirty="0" err="1"/>
              <a:t>Itemname</a:t>
            </a:r>
            <a:endParaRPr lang="en-US" dirty="0"/>
          </a:p>
          <a:p>
            <a:pPr>
              <a:spcBef>
                <a:spcPct val="50000"/>
              </a:spcBef>
            </a:pPr>
            <a:endParaRPr lang="en-US" dirty="0"/>
          </a:p>
          <a:p>
            <a:pPr>
              <a:spcBef>
                <a:spcPct val="50000"/>
              </a:spcBef>
            </a:pPr>
            <a:endParaRPr lang="en-US" sz="800" dirty="0"/>
          </a:p>
          <a:p>
            <a:pPr>
              <a:spcBef>
                <a:spcPct val="50000"/>
              </a:spcBef>
            </a:pPr>
            <a:endParaRPr lang="en-US" sz="800" dirty="0"/>
          </a:p>
          <a:p>
            <a:pPr>
              <a:spcBef>
                <a:spcPct val="50000"/>
              </a:spcBef>
            </a:pPr>
            <a:endParaRPr lang="en-US" sz="800" dirty="0"/>
          </a:p>
          <a:p>
            <a:pPr>
              <a:spcBef>
                <a:spcPct val="50000"/>
              </a:spcBef>
            </a:pPr>
            <a:r>
              <a:rPr lang="en-US" dirty="0"/>
              <a:t>c) Clothe Hierarchy</a:t>
            </a:r>
          </a:p>
        </p:txBody>
      </p:sp>
      <p:cxnSp>
        <p:nvCxnSpPr>
          <p:cNvPr id="10" name="Straight Connector 9"/>
          <p:cNvCxnSpPr/>
          <p:nvPr/>
        </p:nvCxnSpPr>
        <p:spPr bwMode="auto">
          <a:xfrm>
            <a:off x="6972300" y="3648075"/>
            <a:ext cx="19050" cy="485775"/>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flipH="1">
            <a:off x="6981826" y="4432481"/>
            <a:ext cx="9524" cy="450669"/>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Cross Tabulation With Hierarchy</a:t>
            </a:r>
          </a:p>
        </p:txBody>
      </p:sp>
      <p:sp>
        <p:nvSpPr>
          <p:cNvPr id="4" name="Content Placeholder 3">
            <a:extLst>
              <a:ext uri="{FF2B5EF4-FFF2-40B4-BE49-F238E27FC236}">
                <a16:creationId xmlns="" xmlns:a16="http://schemas.microsoft.com/office/drawing/2014/main" id="{659DB9E6-CA62-4EC9-B751-9E77587544F2}"/>
              </a:ext>
            </a:extLst>
          </p:cNvPr>
          <p:cNvSpPr>
            <a:spLocks noGrp="1"/>
          </p:cNvSpPr>
          <p:nvPr>
            <p:ph idx="1"/>
          </p:nvPr>
        </p:nvSpPr>
        <p:spPr/>
        <p:txBody>
          <a:bodyPr/>
          <a:lstStyle/>
          <a:p>
            <a:r>
              <a:rPr lang="en-US" dirty="0"/>
              <a:t>Cross-tabs can be easily extended to deal with hierarchies</a:t>
            </a:r>
          </a:p>
          <a:p>
            <a:r>
              <a:rPr lang="en-US" dirty="0"/>
              <a:t>Can drill down or roll up on a hierarchy</a:t>
            </a:r>
          </a:p>
          <a:p>
            <a:r>
              <a:rPr lang="en-US" dirty="0"/>
              <a:t>E.g. hierarchy: </a:t>
            </a:r>
            <a:r>
              <a:rPr lang="en-US" i="1" dirty="0" err="1"/>
              <a:t>item_name</a:t>
            </a:r>
            <a:r>
              <a:rPr lang="en-US" i="1" dirty="0"/>
              <a:t> </a:t>
            </a:r>
            <a:r>
              <a:rPr lang="en-US" dirty="0">
                <a:sym typeface="Wingdings" panose="05000000000000000000" pitchFamily="2" charset="2"/>
              </a:rPr>
              <a:t></a:t>
            </a:r>
            <a:r>
              <a:rPr lang="en-US" i="1" dirty="0"/>
              <a:t> category</a:t>
            </a:r>
          </a:p>
          <a:p>
            <a:endParaRPr lang="en-IN" dirty="0"/>
          </a:p>
        </p:txBody>
      </p:sp>
      <p:sp>
        <p:nvSpPr>
          <p:cNvPr id="70658" name="Rectangle 3"/>
          <p:cNvSpPr>
            <a:spLocks noChangeArrowheads="1"/>
          </p:cNvSpPr>
          <p:nvPr/>
        </p:nvSpPr>
        <p:spPr bwMode="auto">
          <a:xfrm>
            <a:off x="660400" y="1165225"/>
            <a:ext cx="78994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kumimoji="1" lang="en-US" altLang="en-US" sz="2000" i="1" dirty="0"/>
          </a:p>
        </p:txBody>
      </p:sp>
      <p:pic>
        <p:nvPicPr>
          <p:cNvPr id="3" name="Graphic 2">
            <a:extLst>
              <a:ext uri="{FF2B5EF4-FFF2-40B4-BE49-F238E27FC236}">
                <a16:creationId xmlns="" xmlns:a16="http://schemas.microsoft.com/office/drawing/2014/main" id="{ABA578BC-12E7-4654-8D5F-364DC9943F4C}"/>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60400" y="2658247"/>
            <a:ext cx="7794263" cy="352260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Relational Representation of Cross-tabs</a:t>
            </a:r>
          </a:p>
        </p:txBody>
      </p:sp>
      <p:sp>
        <p:nvSpPr>
          <p:cNvPr id="4" name="Content Placeholder 3">
            <a:extLst>
              <a:ext uri="{FF2B5EF4-FFF2-40B4-BE49-F238E27FC236}">
                <a16:creationId xmlns="" xmlns:a16="http://schemas.microsoft.com/office/drawing/2014/main" id="{AF6D597E-6F4A-43F9-B565-D92E43817F21}"/>
              </a:ext>
            </a:extLst>
          </p:cNvPr>
          <p:cNvSpPr>
            <a:spLocks noGrp="1"/>
          </p:cNvSpPr>
          <p:nvPr>
            <p:ph idx="1"/>
          </p:nvPr>
        </p:nvSpPr>
        <p:spPr>
          <a:xfrm>
            <a:off x="683580" y="1102497"/>
            <a:ext cx="3283810" cy="5367972"/>
          </a:xfrm>
        </p:spPr>
        <p:txBody>
          <a:bodyPr/>
          <a:lstStyle/>
          <a:p>
            <a:r>
              <a:rPr lang="en-US" dirty="0"/>
              <a:t>A cross-tab is different from relational tables usually stored in databases, since the number of columns in the cross-tab depends on the actual data. A change in the data value may results in adding more columns</a:t>
            </a:r>
            <a:r>
              <a:rPr lang="en-US" dirty="0" smtClean="0"/>
              <a:t>.</a:t>
            </a:r>
            <a:endParaRPr lang="en-US" dirty="0"/>
          </a:p>
          <a:p>
            <a:r>
              <a:rPr lang="en-US" dirty="0" smtClean="0"/>
              <a:t>Cross-tabs </a:t>
            </a:r>
            <a:r>
              <a:rPr lang="en-US" dirty="0"/>
              <a:t>can be represented as relations</a:t>
            </a:r>
          </a:p>
          <a:p>
            <a:r>
              <a:rPr lang="en-US" dirty="0"/>
              <a:t>We use the value </a:t>
            </a:r>
            <a:r>
              <a:rPr lang="en-US" b="1" dirty="0"/>
              <a:t>all</a:t>
            </a:r>
            <a:r>
              <a:rPr lang="en-US" dirty="0"/>
              <a:t> to represent </a:t>
            </a:r>
            <a:r>
              <a:rPr lang="en-US" dirty="0" smtClean="0"/>
              <a:t>aggregates/sub-totals.</a:t>
            </a:r>
            <a:endParaRPr lang="en-US" dirty="0"/>
          </a:p>
          <a:p>
            <a:r>
              <a:rPr lang="en-US" dirty="0"/>
              <a:t>The SQL standard actually uses </a:t>
            </a:r>
            <a:r>
              <a:rPr lang="en-US" i="1" dirty="0"/>
              <a:t>null</a:t>
            </a:r>
            <a:r>
              <a:rPr lang="en-US" dirty="0"/>
              <a:t> values in place of </a:t>
            </a:r>
            <a:r>
              <a:rPr lang="en-US" b="1" dirty="0"/>
              <a:t>all</a:t>
            </a:r>
            <a:r>
              <a:rPr lang="en-US" dirty="0"/>
              <a:t> b</a:t>
            </a:r>
            <a:r>
              <a:rPr lang="en-US" dirty="0" smtClean="0"/>
              <a:t>ut </a:t>
            </a:r>
            <a:r>
              <a:rPr lang="en-US" dirty="0"/>
              <a:t>can cause confusion with regular null values.</a:t>
            </a:r>
          </a:p>
        </p:txBody>
      </p:sp>
      <p:sp>
        <p:nvSpPr>
          <p:cNvPr id="71682" name="Rectangle 3"/>
          <p:cNvSpPr>
            <a:spLocks noChangeArrowheads="1"/>
          </p:cNvSpPr>
          <p:nvPr/>
        </p:nvSpPr>
        <p:spPr bwMode="auto">
          <a:xfrm>
            <a:off x="371475" y="1143000"/>
            <a:ext cx="4149725" cy="452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600">
                <a:solidFill>
                  <a:schemeClr val="tx1"/>
                </a:solidFill>
                <a:latin typeface="Helvetica" panose="020B0604020202020204" pitchFamily="34" charset="0"/>
                <a:ea typeface="MS PGothic" panose="020B0600070205080204" pitchFamily="34" charset="-128"/>
              </a:defRPr>
            </a:lvl1pPr>
            <a:lvl2pPr marL="742950" indent="-285750" eaLnBrk="0" hangingPunct="0">
              <a:defRPr sz="1600">
                <a:solidFill>
                  <a:schemeClr val="tx1"/>
                </a:solidFill>
                <a:latin typeface="Helvetica" panose="020B0604020202020204" pitchFamily="34" charset="0"/>
                <a:ea typeface="MS PGothic" panose="020B0600070205080204" pitchFamily="34" charset="-128"/>
              </a:defRPr>
            </a:lvl2pPr>
            <a:lvl3pPr marL="1143000" indent="-228600" eaLnBrk="0" hangingPunct="0">
              <a:defRPr sz="1600">
                <a:solidFill>
                  <a:schemeClr val="tx1"/>
                </a:solidFill>
                <a:latin typeface="Helvetica" panose="020B0604020202020204" pitchFamily="34" charset="0"/>
                <a:ea typeface="MS PGothic" panose="020B0600070205080204" pitchFamily="34" charset="-128"/>
              </a:defRPr>
            </a:lvl3pPr>
            <a:lvl4pPr marL="1600200" indent="-228600" eaLnBrk="0" hangingPunct="0">
              <a:defRPr sz="1600">
                <a:solidFill>
                  <a:schemeClr val="tx1"/>
                </a:solidFill>
                <a:latin typeface="Helvetica" panose="020B0604020202020204" pitchFamily="34" charset="0"/>
                <a:ea typeface="MS PGothic" panose="020B0600070205080204" pitchFamily="34" charset="-128"/>
              </a:defRPr>
            </a:lvl4pPr>
            <a:lvl5pPr marL="2057400" indent="-228600" eaLnBrk="0" hangingPunct="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nSpc>
                <a:spcPct val="90000"/>
              </a:lnSpc>
              <a:spcBef>
                <a:spcPct val="35000"/>
              </a:spcBef>
              <a:buClr>
                <a:schemeClr val="tx2"/>
              </a:buClr>
              <a:buSzPct val="90000"/>
              <a:buFont typeface="Monotype Sorts" charset="2"/>
              <a:buChar char="n"/>
            </a:pPr>
            <a:endParaRPr kumimoji="1" lang="en-US" altLang="en-US" sz="1800" dirty="0"/>
          </a:p>
        </p:txBody>
      </p:sp>
      <p:pic>
        <p:nvPicPr>
          <p:cNvPr id="3" name="Graphic 2">
            <a:extLst>
              <a:ext uri="{FF2B5EF4-FFF2-40B4-BE49-F238E27FC236}">
                <a16:creationId xmlns="" xmlns:a16="http://schemas.microsoft.com/office/drawing/2014/main" id="{F04F7C6A-505D-42E7-935C-ADBEFBADECE3}"/>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4279495" y="727075"/>
            <a:ext cx="4303658" cy="5623447"/>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6C59E4B-CC90-4B78-BF17-261BD76B5195}"/>
              </a:ext>
            </a:extLst>
          </p:cNvPr>
          <p:cNvSpPr>
            <a:spLocks noGrp="1"/>
          </p:cNvSpPr>
          <p:nvPr>
            <p:ph type="title"/>
          </p:nvPr>
        </p:nvSpPr>
        <p:spPr>
          <a:xfrm>
            <a:off x="685800" y="2876365"/>
            <a:ext cx="7772400" cy="933181"/>
          </a:xfrm>
        </p:spPr>
        <p:txBody>
          <a:bodyPr/>
          <a:lstStyle/>
          <a:p>
            <a:pPr algn="ctr"/>
            <a:r>
              <a:rPr lang="en-IN" sz="2800" dirty="0" err="1"/>
              <a:t>Olap</a:t>
            </a:r>
            <a:r>
              <a:rPr lang="en-IN" sz="2800" dirty="0"/>
              <a:t> in SQL</a:t>
            </a:r>
          </a:p>
        </p:txBody>
      </p:sp>
    </p:spTree>
    <p:extLst>
      <p:ext uri="{BB962C8B-B14F-4D97-AF65-F5344CB8AC3E}">
        <p14:creationId xmlns:p14="http://schemas.microsoft.com/office/powerpoint/2010/main" val="24034095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5CAC25CE-BE7D-4F21-8525-12D222F324E1}"/>
              </a:ext>
            </a:extLst>
          </p:cNvPr>
          <p:cNvSpPr>
            <a:spLocks noGrp="1"/>
          </p:cNvSpPr>
          <p:nvPr>
            <p:ph type="title"/>
          </p:nvPr>
        </p:nvSpPr>
        <p:spPr/>
        <p:txBody>
          <a:bodyPr/>
          <a:lstStyle/>
          <a:p>
            <a:r>
              <a:rPr lang="en-IN" dirty="0"/>
              <a:t>Pivot Operation</a:t>
            </a:r>
          </a:p>
        </p:txBody>
      </p:sp>
      <p:sp>
        <p:nvSpPr>
          <p:cNvPr id="5" name="Content Placeholder 4">
            <a:extLst>
              <a:ext uri="{FF2B5EF4-FFF2-40B4-BE49-F238E27FC236}">
                <a16:creationId xmlns="" xmlns:a16="http://schemas.microsoft.com/office/drawing/2014/main" id="{F7251D9A-B2FF-4B67-9772-737E15AEC695}"/>
              </a:ext>
            </a:extLst>
          </p:cNvPr>
          <p:cNvSpPr>
            <a:spLocks noGrp="1"/>
          </p:cNvSpPr>
          <p:nvPr>
            <p:ph idx="1"/>
          </p:nvPr>
        </p:nvSpPr>
        <p:spPr/>
        <p:txBody>
          <a:bodyPr/>
          <a:lstStyle/>
          <a:p>
            <a:r>
              <a:rPr lang="en-US" dirty="0" smtClean="0"/>
              <a:t>Microsoft SQL </a:t>
            </a:r>
            <a:r>
              <a:rPr lang="en-US" dirty="0"/>
              <a:t>Server and Oracle, support a </a:t>
            </a:r>
            <a:r>
              <a:rPr lang="en-US" b="1" dirty="0"/>
              <a:t>pivot </a:t>
            </a:r>
            <a:r>
              <a:rPr lang="en-US" dirty="0"/>
              <a:t>clause that allows creation of cross-tabs. </a:t>
            </a:r>
            <a:endParaRPr lang="en-US" b="1" dirty="0" smtClean="0"/>
          </a:p>
          <a:p>
            <a:r>
              <a:rPr lang="en-US" b="1" dirty="0" smtClean="0"/>
              <a:t>select </a:t>
            </a:r>
            <a:r>
              <a:rPr lang="en-US" dirty="0"/>
              <a:t>*</a:t>
            </a:r>
            <a:br>
              <a:rPr lang="en-US" dirty="0"/>
            </a:br>
            <a:r>
              <a:rPr lang="en-US" b="1" dirty="0"/>
              <a:t>from </a:t>
            </a:r>
            <a:r>
              <a:rPr lang="en-US" i="1" dirty="0"/>
              <a:t>sales</a:t>
            </a:r>
            <a:br>
              <a:rPr lang="en-US" i="1" dirty="0"/>
            </a:br>
            <a:r>
              <a:rPr lang="en-US" b="1" dirty="0"/>
              <a:t>pivot </a:t>
            </a:r>
            <a:r>
              <a:rPr lang="en-US" dirty="0"/>
              <a:t>(</a:t>
            </a:r>
            <a:br>
              <a:rPr lang="en-US" dirty="0"/>
            </a:br>
            <a:r>
              <a:rPr lang="en-US" dirty="0"/>
              <a:t>      </a:t>
            </a:r>
            <a:r>
              <a:rPr lang="en-US" b="1" dirty="0"/>
              <a:t>sum</a:t>
            </a:r>
            <a:r>
              <a:rPr lang="en-US" dirty="0"/>
              <a:t>(</a:t>
            </a:r>
            <a:r>
              <a:rPr lang="en-US" i="1" dirty="0"/>
              <a:t>quantity</a:t>
            </a:r>
            <a:r>
              <a:rPr lang="en-US" dirty="0"/>
              <a:t>)</a:t>
            </a:r>
            <a:br>
              <a:rPr lang="en-US" dirty="0"/>
            </a:br>
            <a:r>
              <a:rPr lang="en-US" dirty="0"/>
              <a:t>      </a:t>
            </a:r>
            <a:r>
              <a:rPr lang="en-US" b="1" dirty="0"/>
              <a:t>for </a:t>
            </a:r>
            <a:r>
              <a:rPr lang="en-US" i="1" dirty="0"/>
              <a:t>color </a:t>
            </a:r>
            <a:r>
              <a:rPr lang="en-US" b="1" dirty="0"/>
              <a:t>in </a:t>
            </a:r>
            <a:r>
              <a:rPr lang="en-US" dirty="0"/>
              <a:t>('</a:t>
            </a:r>
            <a:r>
              <a:rPr lang="en-US" dirty="0" err="1"/>
              <a:t>dark','pastel','white</a:t>
            </a:r>
            <a:r>
              <a:rPr lang="en-US" dirty="0"/>
              <a:t>')</a:t>
            </a:r>
            <a:br>
              <a:rPr lang="en-US" dirty="0"/>
            </a:br>
            <a:r>
              <a:rPr lang="en-US" dirty="0"/>
              <a:t>)</a:t>
            </a:r>
            <a:br>
              <a:rPr lang="en-US" dirty="0"/>
            </a:br>
            <a:r>
              <a:rPr lang="en-US" b="1" dirty="0"/>
              <a:t>order by </a:t>
            </a:r>
            <a:r>
              <a:rPr lang="en-US" i="1" dirty="0"/>
              <a:t>item name</a:t>
            </a:r>
            <a:r>
              <a:rPr lang="en-US" dirty="0"/>
              <a:t>; </a:t>
            </a:r>
            <a:br>
              <a:rPr lang="en-US" dirty="0"/>
            </a:br>
            <a:endParaRPr lang="en-IN" dirty="0"/>
          </a:p>
        </p:txBody>
      </p:sp>
      <p:pic>
        <p:nvPicPr>
          <p:cNvPr id="7" name="Graphic 6">
            <a:extLst>
              <a:ext uri="{FF2B5EF4-FFF2-40B4-BE49-F238E27FC236}">
                <a16:creationId xmlns="" xmlns:a16="http://schemas.microsoft.com/office/drawing/2014/main" id="{B56DF8C0-9877-41CF-A221-6B529A003ABB}"/>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4101629" y="3084123"/>
            <a:ext cx="4356571" cy="3376343"/>
          </a:xfrm>
          <a:prstGeom prst="rect">
            <a:avLst/>
          </a:prstGeom>
        </p:spPr>
      </p:pic>
    </p:spTree>
    <p:extLst>
      <p:ext uri="{BB962C8B-B14F-4D97-AF65-F5344CB8AC3E}">
        <p14:creationId xmlns:p14="http://schemas.microsoft.com/office/powerpoint/2010/main" val="33835122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768350" y="117475"/>
            <a:ext cx="8077200" cy="701391"/>
          </a:xfrm>
        </p:spPr>
        <p:txBody>
          <a:bodyPr/>
          <a:lstStyle/>
          <a:p>
            <a:r>
              <a:rPr lang="en-US" altLang="en-US" dirty="0">
                <a:effectLst>
                  <a:outerShdw blurRad="38100" dist="38100" dir="2700000" algn="tl">
                    <a:srgbClr val="C0C0C0"/>
                  </a:outerShdw>
                </a:effectLst>
              </a:rPr>
              <a:t>Cube Operation</a:t>
            </a:r>
          </a:p>
        </p:txBody>
      </p:sp>
      <p:sp>
        <p:nvSpPr>
          <p:cNvPr id="72706" name="Rectangle 3"/>
          <p:cNvSpPr>
            <a:spLocks noGrp="1" noChangeArrowheads="1"/>
          </p:cNvSpPr>
          <p:nvPr>
            <p:ph idx="1"/>
          </p:nvPr>
        </p:nvSpPr>
        <p:spPr>
          <a:xfrm>
            <a:off x="685800" y="902472"/>
            <a:ext cx="7843058" cy="5367972"/>
          </a:xfrm>
        </p:spPr>
        <p:txBody>
          <a:bodyPr/>
          <a:lstStyle/>
          <a:p>
            <a:r>
              <a:rPr lang="en-US" dirty="0"/>
              <a:t>SQL supports generalizations of the </a:t>
            </a:r>
            <a:r>
              <a:rPr lang="en-US" b="1" dirty="0"/>
              <a:t>group by </a:t>
            </a:r>
            <a:r>
              <a:rPr lang="en-US" dirty="0" smtClean="0"/>
              <a:t>construct to </a:t>
            </a:r>
            <a:r>
              <a:rPr lang="en-US" dirty="0"/>
              <a:t>perform the </a:t>
            </a:r>
            <a:r>
              <a:rPr lang="en-US" b="1" dirty="0"/>
              <a:t>cube </a:t>
            </a:r>
            <a:r>
              <a:rPr lang="en-US" dirty="0"/>
              <a:t>and </a:t>
            </a:r>
            <a:r>
              <a:rPr lang="en-US" b="1" dirty="0"/>
              <a:t>rollup </a:t>
            </a:r>
            <a:r>
              <a:rPr lang="en-US" dirty="0"/>
              <a:t>operations. </a:t>
            </a:r>
            <a:endParaRPr lang="en-US" altLang="en-US" dirty="0" smtClean="0"/>
          </a:p>
          <a:p>
            <a:r>
              <a:rPr lang="en-US" altLang="en-US" dirty="0" smtClean="0"/>
              <a:t>The </a:t>
            </a:r>
            <a:r>
              <a:rPr lang="en-US" altLang="en-US" b="1" dirty="0"/>
              <a:t>cube</a:t>
            </a:r>
            <a:r>
              <a:rPr lang="en-US" altLang="en-US" dirty="0"/>
              <a:t> operation computes union of </a:t>
            </a:r>
            <a:r>
              <a:rPr lang="en-US" altLang="en-US" b="1" dirty="0"/>
              <a:t>group </a:t>
            </a:r>
            <a:r>
              <a:rPr lang="en-US" altLang="en-US" b="1" dirty="0" err="1"/>
              <a:t>by’</a:t>
            </a:r>
            <a:r>
              <a:rPr lang="en-US" altLang="ja-JP" dirty="0" err="1"/>
              <a:t>s</a:t>
            </a:r>
            <a:r>
              <a:rPr lang="en-US" altLang="ja-JP" dirty="0"/>
              <a:t> on every subset of the specified attributes</a:t>
            </a:r>
          </a:p>
          <a:p>
            <a:r>
              <a:rPr lang="en-US" altLang="en-US" dirty="0"/>
              <a:t>E.g., consider the query</a:t>
            </a:r>
          </a:p>
          <a:p>
            <a:pPr>
              <a:buFont typeface="Monotype Sorts" charset="2"/>
              <a:buNone/>
            </a:pPr>
            <a:r>
              <a:rPr lang="en-US" altLang="en-US" b="1" dirty="0"/>
              <a:t>		select </a:t>
            </a:r>
            <a:r>
              <a:rPr lang="en-US" altLang="en-US" i="1" dirty="0" err="1"/>
              <a:t>item_name</a:t>
            </a:r>
            <a:r>
              <a:rPr lang="en-US" altLang="en-US" i="1" dirty="0"/>
              <a:t>, color, size, </a:t>
            </a:r>
            <a:r>
              <a:rPr lang="en-US" altLang="en-US" b="1" dirty="0"/>
              <a:t>sum</a:t>
            </a:r>
            <a:r>
              <a:rPr lang="en-US" altLang="en-US" dirty="0"/>
              <a:t>(</a:t>
            </a:r>
            <a:r>
              <a:rPr lang="en-US" altLang="en-US" i="1" dirty="0"/>
              <a:t>number</a:t>
            </a:r>
            <a:r>
              <a:rPr lang="en-US" altLang="en-US" dirty="0"/>
              <a:t>)</a:t>
            </a:r>
            <a:br>
              <a:rPr lang="en-US" altLang="en-US" dirty="0"/>
            </a:br>
            <a:r>
              <a:rPr lang="en-US" altLang="en-US" dirty="0"/>
              <a:t>	</a:t>
            </a:r>
            <a:r>
              <a:rPr lang="en-US" altLang="en-US" b="1" dirty="0"/>
              <a:t>from</a:t>
            </a:r>
            <a:r>
              <a:rPr lang="en-US" altLang="en-US" dirty="0"/>
              <a:t> </a:t>
            </a:r>
            <a:r>
              <a:rPr lang="en-US" altLang="en-US" i="1" dirty="0"/>
              <a:t>sales</a:t>
            </a:r>
            <a:br>
              <a:rPr lang="en-US" altLang="en-US" i="1" dirty="0"/>
            </a:br>
            <a:r>
              <a:rPr lang="en-US" altLang="en-US" i="1" dirty="0"/>
              <a:t>	</a:t>
            </a:r>
            <a:r>
              <a:rPr lang="en-US" altLang="en-US" b="1" dirty="0"/>
              <a:t>group by cube</a:t>
            </a:r>
            <a:r>
              <a:rPr lang="en-US" altLang="en-US" dirty="0"/>
              <a:t>(</a:t>
            </a:r>
            <a:r>
              <a:rPr lang="en-US" altLang="en-US" i="1" dirty="0" err="1"/>
              <a:t>item_name</a:t>
            </a:r>
            <a:r>
              <a:rPr lang="en-US" altLang="en-US" i="1" dirty="0"/>
              <a:t>, color, size</a:t>
            </a:r>
            <a:r>
              <a:rPr lang="en-US" altLang="en-US" dirty="0"/>
              <a:t>)</a:t>
            </a:r>
          </a:p>
          <a:p>
            <a:pPr>
              <a:buFont typeface="Monotype Sorts" charset="2"/>
              <a:buNone/>
            </a:pPr>
            <a:r>
              <a:rPr lang="en-US" altLang="en-US" dirty="0"/>
              <a:t>      This computes the union of eight different groupings of the </a:t>
            </a:r>
            <a:r>
              <a:rPr lang="en-US" altLang="en-US" i="1" dirty="0"/>
              <a:t>sales </a:t>
            </a:r>
            <a:r>
              <a:rPr lang="en-US" altLang="en-US" dirty="0"/>
              <a:t>relation:</a:t>
            </a:r>
          </a:p>
          <a:p>
            <a:pPr>
              <a:buFont typeface="Monotype Sorts" charset="2"/>
              <a:buNone/>
            </a:pPr>
            <a:r>
              <a:rPr lang="en-US" altLang="en-US" dirty="0"/>
              <a:t>	   { (</a:t>
            </a:r>
            <a:r>
              <a:rPr lang="en-US" altLang="en-US" i="1" dirty="0" err="1"/>
              <a:t>item_name</a:t>
            </a:r>
            <a:r>
              <a:rPr lang="en-US" altLang="en-US" i="1" dirty="0"/>
              <a:t>, color, size</a:t>
            </a:r>
            <a:r>
              <a:rPr lang="en-US" altLang="en-US" dirty="0"/>
              <a:t>), (</a:t>
            </a:r>
            <a:r>
              <a:rPr lang="en-US" altLang="en-US" i="1" dirty="0" err="1"/>
              <a:t>item_name</a:t>
            </a:r>
            <a:r>
              <a:rPr lang="en-US" altLang="en-US" i="1" dirty="0"/>
              <a:t>, color</a:t>
            </a:r>
            <a:r>
              <a:rPr lang="en-US" altLang="en-US" dirty="0"/>
              <a:t>), </a:t>
            </a:r>
            <a:br>
              <a:rPr lang="en-US" altLang="en-US" dirty="0"/>
            </a:br>
            <a:r>
              <a:rPr lang="en-US" altLang="en-US" dirty="0"/>
              <a:t>     (</a:t>
            </a:r>
            <a:r>
              <a:rPr lang="en-US" altLang="en-US" i="1" dirty="0" err="1"/>
              <a:t>item_name</a:t>
            </a:r>
            <a:r>
              <a:rPr lang="en-US" altLang="en-US" i="1" dirty="0"/>
              <a:t>, size</a:t>
            </a:r>
            <a:r>
              <a:rPr lang="en-US" altLang="en-US" dirty="0"/>
              <a:t>),           (</a:t>
            </a:r>
            <a:r>
              <a:rPr lang="en-US" altLang="en-US" i="1" dirty="0"/>
              <a:t>color, size</a:t>
            </a:r>
            <a:r>
              <a:rPr lang="en-US" altLang="en-US" dirty="0"/>
              <a:t>), </a:t>
            </a:r>
            <a:br>
              <a:rPr lang="en-US" altLang="en-US" dirty="0"/>
            </a:br>
            <a:r>
              <a:rPr lang="en-US" altLang="en-US" dirty="0"/>
              <a:t>     (</a:t>
            </a:r>
            <a:r>
              <a:rPr lang="en-US" altLang="en-US" i="1" dirty="0" err="1"/>
              <a:t>item_name</a:t>
            </a:r>
            <a:r>
              <a:rPr lang="en-US" altLang="en-US" dirty="0"/>
              <a:t>),                   (</a:t>
            </a:r>
            <a:r>
              <a:rPr lang="en-US" altLang="en-US" i="1" dirty="0"/>
              <a:t>color</a:t>
            </a:r>
            <a:r>
              <a:rPr lang="en-US" altLang="en-US" dirty="0"/>
              <a:t>), </a:t>
            </a:r>
            <a:br>
              <a:rPr lang="en-US" altLang="en-US" dirty="0"/>
            </a:br>
            <a:r>
              <a:rPr lang="en-US" altLang="en-US" dirty="0"/>
              <a:t>     (</a:t>
            </a:r>
            <a:r>
              <a:rPr lang="en-US" altLang="en-US" i="1" dirty="0"/>
              <a:t>size</a:t>
            </a:r>
            <a:r>
              <a:rPr lang="en-US" altLang="en-US" dirty="0"/>
              <a:t>),                              ( ) }</a:t>
            </a:r>
          </a:p>
          <a:p>
            <a:pPr>
              <a:buFont typeface="Monotype Sorts" charset="2"/>
              <a:buNone/>
            </a:pPr>
            <a:r>
              <a:rPr lang="en-US" altLang="en-US" dirty="0"/>
              <a:t>      where ( ) denotes an empty </a:t>
            </a:r>
            <a:r>
              <a:rPr lang="en-US" altLang="en-US" b="1" dirty="0"/>
              <a:t>group by </a:t>
            </a:r>
            <a:r>
              <a:rPr lang="en-US" altLang="en-US" dirty="0"/>
              <a:t>list.</a:t>
            </a:r>
          </a:p>
          <a:p>
            <a:r>
              <a:rPr lang="en-US" altLang="en-US" dirty="0"/>
              <a:t>For each grouping, the result contains the null value for attributes not present in the grouping</a:t>
            </a:r>
            <a:r>
              <a:rPr lang="en-US" altLang="en-US" dirty="0" smtClean="0"/>
              <a:t>.</a:t>
            </a:r>
          </a:p>
          <a:p>
            <a:r>
              <a:rPr lang="en-US" dirty="0"/>
              <a:t>Data cube relations are often very large. The cube query above, with 3 possible colors, 4 possible item names, and 3 </a:t>
            </a:r>
            <a:r>
              <a:rPr lang="en-US" dirty="0" smtClean="0"/>
              <a:t>sizes and with summary values has </a:t>
            </a:r>
            <a:r>
              <a:rPr lang="en-US" dirty="0"/>
              <a:t>80 tuples.</a:t>
            </a:r>
            <a:r>
              <a:rPr lang="en-US" altLang="en-US" dirty="0" smtClean="0"/>
              <a:t> </a:t>
            </a:r>
            <a:endParaRPr lang="en-US"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Online Analytical Processing Operations</a:t>
            </a:r>
          </a:p>
        </p:txBody>
      </p:sp>
      <p:sp>
        <p:nvSpPr>
          <p:cNvPr id="73730" name="Rectangle 3"/>
          <p:cNvSpPr>
            <a:spLocks noGrp="1" noChangeArrowheads="1"/>
          </p:cNvSpPr>
          <p:nvPr>
            <p:ph idx="1"/>
          </p:nvPr>
        </p:nvSpPr>
        <p:spPr>
          <a:xfrm>
            <a:off x="685800" y="1129131"/>
            <a:ext cx="7843058" cy="1404519"/>
          </a:xfrm>
        </p:spPr>
        <p:txBody>
          <a:bodyPr/>
          <a:lstStyle/>
          <a:p>
            <a:pPr>
              <a:lnSpc>
                <a:spcPct val="90000"/>
              </a:lnSpc>
            </a:pPr>
            <a:r>
              <a:rPr lang="en-US" altLang="en-US" dirty="0" smtClean="0"/>
              <a:t>Relational </a:t>
            </a:r>
            <a:r>
              <a:rPr lang="en-US" altLang="en-US" dirty="0"/>
              <a:t>representation of cross-tab that we saw earlier, but with </a:t>
            </a:r>
            <a:r>
              <a:rPr lang="en-US" altLang="en-US" i="1" dirty="0"/>
              <a:t>null </a:t>
            </a:r>
            <a:r>
              <a:rPr lang="en-US" altLang="en-US" dirty="0"/>
              <a:t>in place of </a:t>
            </a:r>
            <a:r>
              <a:rPr lang="en-US" altLang="en-US" b="1" dirty="0"/>
              <a:t>all</a:t>
            </a:r>
            <a:r>
              <a:rPr lang="en-US" altLang="en-US" dirty="0"/>
              <a:t>, can be computed by</a:t>
            </a:r>
          </a:p>
          <a:p>
            <a:pPr>
              <a:lnSpc>
                <a:spcPct val="90000"/>
              </a:lnSpc>
              <a:buFont typeface="Monotype Sorts" charset="2"/>
              <a:buNone/>
            </a:pPr>
            <a:r>
              <a:rPr lang="en-US" altLang="en-US" dirty="0"/>
              <a:t>		</a:t>
            </a:r>
            <a:r>
              <a:rPr lang="en-US" altLang="en-US" b="1" dirty="0"/>
              <a:t>select </a:t>
            </a:r>
            <a:r>
              <a:rPr lang="en-US" altLang="en-US" i="1" dirty="0" err="1"/>
              <a:t>item_name</a:t>
            </a:r>
            <a:r>
              <a:rPr lang="en-US" altLang="en-US" dirty="0"/>
              <a:t>, </a:t>
            </a:r>
            <a:r>
              <a:rPr lang="en-US" altLang="en-US" i="1" dirty="0"/>
              <a:t>color</a:t>
            </a:r>
            <a:r>
              <a:rPr lang="en-US" altLang="en-US" dirty="0"/>
              <a:t>, </a:t>
            </a:r>
            <a:r>
              <a:rPr lang="en-US" altLang="en-US" b="1" dirty="0"/>
              <a:t>sum</a:t>
            </a:r>
            <a:r>
              <a:rPr lang="en-US" altLang="en-US" dirty="0"/>
              <a:t>(</a:t>
            </a:r>
            <a:r>
              <a:rPr lang="en-US" altLang="en-US" i="1" dirty="0"/>
              <a:t>number</a:t>
            </a:r>
            <a:r>
              <a:rPr lang="en-US" altLang="en-US" dirty="0"/>
              <a:t>)</a:t>
            </a:r>
            <a:br>
              <a:rPr lang="en-US" altLang="en-US" dirty="0"/>
            </a:br>
            <a:r>
              <a:rPr lang="en-US" altLang="en-US" dirty="0"/>
              <a:t>	</a:t>
            </a:r>
            <a:r>
              <a:rPr lang="en-US" altLang="en-US" b="1" dirty="0"/>
              <a:t>from </a:t>
            </a:r>
            <a:r>
              <a:rPr lang="en-US" altLang="en-US" i="1" dirty="0"/>
              <a:t>sales</a:t>
            </a:r>
            <a:br>
              <a:rPr lang="en-US" altLang="en-US" i="1" dirty="0"/>
            </a:br>
            <a:r>
              <a:rPr lang="en-US" altLang="en-US" i="1" dirty="0"/>
              <a:t>	</a:t>
            </a:r>
            <a:r>
              <a:rPr lang="en-US" altLang="en-US" b="1" dirty="0"/>
              <a:t>group by cube</a:t>
            </a:r>
            <a:r>
              <a:rPr lang="en-US" altLang="en-US" dirty="0"/>
              <a:t>(</a:t>
            </a:r>
            <a:r>
              <a:rPr lang="en-US" altLang="en-US" i="1" dirty="0" err="1"/>
              <a:t>item_name</a:t>
            </a:r>
            <a:r>
              <a:rPr lang="en-US" altLang="en-US" i="1" dirty="0"/>
              <a:t>, color</a:t>
            </a:r>
            <a:r>
              <a:rPr lang="en-US" altLang="en-US" dirty="0" smtClean="0"/>
              <a:t>)</a:t>
            </a:r>
            <a:r>
              <a:rPr lang="en-US" dirty="0" smtClean="0"/>
              <a:t/>
            </a:r>
            <a:br>
              <a:rPr lang="en-US" dirty="0" smtClean="0"/>
            </a:br>
            <a:endParaRPr lang="en-US" altLang="en-US" dirty="0"/>
          </a:p>
        </p:txBody>
      </p:sp>
      <p:sp>
        <p:nvSpPr>
          <p:cNvPr id="4" name="Rectangle 3"/>
          <p:cNvSpPr txBox="1">
            <a:spLocks noChangeArrowheads="1"/>
          </p:cNvSpPr>
          <p:nvPr/>
        </p:nvSpPr>
        <p:spPr bwMode="auto">
          <a:xfrm>
            <a:off x="695325" y="2538831"/>
            <a:ext cx="3667125" cy="3328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pPr>
              <a:lnSpc>
                <a:spcPct val="90000"/>
              </a:lnSpc>
              <a:buClr>
                <a:schemeClr val="tx2"/>
              </a:buClr>
              <a:buSzPct val="90000"/>
              <a:buFont typeface="Monotype Sorts" charset="2"/>
              <a:buChar char="n"/>
            </a:pPr>
            <a:r>
              <a:rPr lang="en-US" dirty="0" smtClean="0"/>
              <a:t>The </a:t>
            </a:r>
            <a:r>
              <a:rPr lang="en-US" dirty="0"/>
              <a:t>relation of right side is generated by doing a </a:t>
            </a:r>
            <a:r>
              <a:rPr lang="en-US" b="1" dirty="0"/>
              <a:t>group by cube </a:t>
            </a:r>
            <a:r>
              <a:rPr lang="en-US" dirty="0"/>
              <a:t>on </a:t>
            </a:r>
            <a:r>
              <a:rPr lang="en-US" i="1" dirty="0"/>
              <a:t>item name </a:t>
            </a:r>
            <a:r>
              <a:rPr lang="en-US" dirty="0"/>
              <a:t>and </a:t>
            </a:r>
            <a:r>
              <a:rPr lang="en-US" i="1" dirty="0"/>
              <a:t>color</a:t>
            </a:r>
            <a:r>
              <a:rPr lang="en-US" dirty="0"/>
              <a:t>, with an extra column</a:t>
            </a:r>
            <a:br>
              <a:rPr lang="en-US" dirty="0"/>
            </a:br>
            <a:r>
              <a:rPr lang="en-US" dirty="0"/>
              <a:t>specified in the </a:t>
            </a:r>
            <a:r>
              <a:rPr lang="en-US" b="1" dirty="0"/>
              <a:t>select </a:t>
            </a:r>
            <a:r>
              <a:rPr lang="en-US" dirty="0"/>
              <a:t>clause showing </a:t>
            </a:r>
            <a:r>
              <a:rPr lang="en-US" b="1" dirty="0"/>
              <a:t>all </a:t>
            </a:r>
            <a:r>
              <a:rPr lang="en-US" dirty="0"/>
              <a:t>for </a:t>
            </a:r>
            <a:r>
              <a:rPr lang="en-US" i="1" dirty="0" err="1"/>
              <a:t>clothes_size</a:t>
            </a:r>
            <a:r>
              <a:rPr lang="en-US" dirty="0"/>
              <a:t>.</a:t>
            </a:r>
            <a:r>
              <a:rPr lang="en-US" dirty="0" smtClean="0"/>
              <a:t/>
            </a:r>
            <a:br>
              <a:rPr lang="en-US" dirty="0" smtClean="0"/>
            </a:br>
            <a:endParaRPr lang="en-US"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1138" y="2286000"/>
            <a:ext cx="3257550"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Online Analytical Processing Operations</a:t>
            </a:r>
          </a:p>
        </p:txBody>
      </p:sp>
      <p:sp>
        <p:nvSpPr>
          <p:cNvPr id="74754" name="Rectangle 3"/>
          <p:cNvSpPr>
            <a:spLocks noGrp="1" noChangeArrowheads="1"/>
          </p:cNvSpPr>
          <p:nvPr>
            <p:ph idx="1"/>
          </p:nvPr>
        </p:nvSpPr>
        <p:spPr>
          <a:xfrm>
            <a:off x="685800" y="1129131"/>
            <a:ext cx="7843058" cy="4738269"/>
          </a:xfrm>
        </p:spPr>
        <p:txBody>
          <a:bodyPr/>
          <a:lstStyle/>
          <a:p>
            <a:pPr>
              <a:lnSpc>
                <a:spcPct val="90000"/>
              </a:lnSpc>
            </a:pPr>
            <a:r>
              <a:rPr lang="en-US" altLang="en-US" dirty="0"/>
              <a:t>The function </a:t>
            </a:r>
            <a:r>
              <a:rPr lang="en-US" altLang="en-US" b="1" dirty="0"/>
              <a:t>grouping()</a:t>
            </a:r>
            <a:r>
              <a:rPr lang="en-US" altLang="en-US" dirty="0"/>
              <a:t> can be applied on an attribute</a:t>
            </a:r>
          </a:p>
          <a:p>
            <a:pPr lvl="1">
              <a:lnSpc>
                <a:spcPct val="90000"/>
              </a:lnSpc>
            </a:pPr>
            <a:r>
              <a:rPr lang="en-US" altLang="en-US" dirty="0"/>
              <a:t>Returns 1 if the value is a null value representing all,  </a:t>
            </a:r>
            <a:br>
              <a:rPr lang="en-US" altLang="en-US" dirty="0"/>
            </a:br>
            <a:r>
              <a:rPr lang="en-US" altLang="en-US" dirty="0"/>
              <a:t>and returns 0 in all other cases. </a:t>
            </a:r>
          </a:p>
          <a:p>
            <a:pPr>
              <a:lnSpc>
                <a:spcPct val="90000"/>
              </a:lnSpc>
              <a:buFont typeface="Monotype Sorts" charset="2"/>
              <a:buNone/>
            </a:pPr>
            <a:r>
              <a:rPr lang="en-US" altLang="en-US" dirty="0"/>
              <a:t>	</a:t>
            </a:r>
            <a:r>
              <a:rPr lang="en-US" b="1" dirty="0"/>
              <a:t>select case when grouping</a:t>
            </a:r>
            <a:r>
              <a:rPr lang="en-US" dirty="0"/>
              <a:t>(</a:t>
            </a:r>
            <a:r>
              <a:rPr lang="en-US" i="1" dirty="0" err="1"/>
              <a:t>item_name</a:t>
            </a:r>
            <a:r>
              <a:rPr lang="en-US" dirty="0"/>
              <a:t>) = 1 </a:t>
            </a:r>
            <a:r>
              <a:rPr lang="en-US" b="1" dirty="0"/>
              <a:t>then </a:t>
            </a:r>
            <a:r>
              <a:rPr lang="en-US" dirty="0"/>
              <a:t>'</a:t>
            </a:r>
            <a:r>
              <a:rPr lang="en-US" b="1" dirty="0"/>
              <a:t>all</a:t>
            </a:r>
            <a:r>
              <a:rPr lang="en-US" dirty="0"/>
              <a:t>’</a:t>
            </a:r>
            <a:br>
              <a:rPr lang="en-US" dirty="0"/>
            </a:br>
            <a:r>
              <a:rPr lang="en-US" dirty="0"/>
              <a:t>                          </a:t>
            </a:r>
            <a:r>
              <a:rPr lang="en-US" b="1" dirty="0"/>
              <a:t>else </a:t>
            </a:r>
            <a:r>
              <a:rPr lang="en-US" i="1" dirty="0" err="1"/>
              <a:t>item_name</a:t>
            </a:r>
            <a:r>
              <a:rPr lang="en-US" i="1" dirty="0"/>
              <a:t> </a:t>
            </a:r>
            <a:r>
              <a:rPr lang="en-US" b="1" dirty="0"/>
              <a:t>end as </a:t>
            </a:r>
            <a:r>
              <a:rPr lang="en-US" i="1" dirty="0" err="1"/>
              <a:t>item_name</a:t>
            </a:r>
            <a:r>
              <a:rPr lang="en-US" dirty="0"/>
              <a:t>,</a:t>
            </a:r>
            <a:br>
              <a:rPr lang="en-US" dirty="0"/>
            </a:br>
            <a:r>
              <a:rPr lang="en-US" dirty="0"/>
              <a:t>           </a:t>
            </a:r>
            <a:r>
              <a:rPr lang="en-US" b="1" dirty="0"/>
              <a:t>case when grouping</a:t>
            </a:r>
            <a:r>
              <a:rPr lang="en-US" dirty="0"/>
              <a:t>(</a:t>
            </a:r>
            <a:r>
              <a:rPr lang="en-US" i="1" dirty="0"/>
              <a:t>color</a:t>
            </a:r>
            <a:r>
              <a:rPr lang="en-US" dirty="0"/>
              <a:t>) = 1 </a:t>
            </a:r>
            <a:r>
              <a:rPr lang="en-US" b="1" dirty="0"/>
              <a:t>then </a:t>
            </a:r>
            <a:r>
              <a:rPr lang="en-US" dirty="0"/>
              <a:t>'</a:t>
            </a:r>
            <a:r>
              <a:rPr lang="en-US" b="1" dirty="0"/>
              <a:t>all</a:t>
            </a:r>
            <a:r>
              <a:rPr lang="en-US" dirty="0"/>
              <a:t>’</a:t>
            </a:r>
            <a:br>
              <a:rPr lang="en-US" dirty="0"/>
            </a:br>
            <a:r>
              <a:rPr lang="en-US" dirty="0"/>
              <a:t>                          </a:t>
            </a:r>
            <a:r>
              <a:rPr lang="en-US" b="1" dirty="0"/>
              <a:t>else </a:t>
            </a:r>
            <a:r>
              <a:rPr lang="en-US" i="1" dirty="0"/>
              <a:t>color </a:t>
            </a:r>
            <a:r>
              <a:rPr lang="en-US" b="1" dirty="0"/>
              <a:t>end as </a:t>
            </a:r>
            <a:r>
              <a:rPr lang="en-US" i="1" dirty="0"/>
              <a:t>color</a:t>
            </a:r>
            <a:r>
              <a:rPr lang="en-US" dirty="0"/>
              <a:t>,</a:t>
            </a:r>
            <a:br>
              <a:rPr lang="en-US" dirty="0"/>
            </a:br>
            <a:r>
              <a:rPr lang="en-US" dirty="0"/>
              <a:t>           '</a:t>
            </a:r>
            <a:r>
              <a:rPr lang="en-US" b="1" dirty="0"/>
              <a:t>all</a:t>
            </a:r>
            <a:r>
              <a:rPr lang="en-US" dirty="0"/>
              <a:t>' </a:t>
            </a:r>
            <a:r>
              <a:rPr lang="en-US" b="1" dirty="0"/>
              <a:t>as </a:t>
            </a:r>
            <a:r>
              <a:rPr lang="en-US" i="1" dirty="0" err="1" smtClean="0"/>
              <a:t>clothes_size</a:t>
            </a:r>
            <a:r>
              <a:rPr lang="en-US" dirty="0"/>
              <a:t>, </a:t>
            </a:r>
            <a:r>
              <a:rPr lang="en-US" b="1" dirty="0"/>
              <a:t>sum</a:t>
            </a:r>
            <a:r>
              <a:rPr lang="en-US" dirty="0"/>
              <a:t>(</a:t>
            </a:r>
            <a:r>
              <a:rPr lang="en-US" i="1" dirty="0"/>
              <a:t>quantity</a:t>
            </a:r>
            <a:r>
              <a:rPr lang="en-US" dirty="0"/>
              <a:t>) </a:t>
            </a:r>
            <a:r>
              <a:rPr lang="en-US" b="1" dirty="0"/>
              <a:t>as </a:t>
            </a:r>
            <a:r>
              <a:rPr lang="en-US" i="1" dirty="0"/>
              <a:t>quantity</a:t>
            </a:r>
            <a:br>
              <a:rPr lang="en-US" i="1" dirty="0"/>
            </a:br>
            <a:r>
              <a:rPr lang="en-US" b="1" dirty="0"/>
              <a:t>from </a:t>
            </a:r>
            <a:r>
              <a:rPr lang="en-US" i="1" dirty="0"/>
              <a:t>sales</a:t>
            </a:r>
            <a:br>
              <a:rPr lang="en-US" i="1" dirty="0"/>
            </a:br>
            <a:r>
              <a:rPr lang="en-US" b="1" dirty="0"/>
              <a:t>group by </a:t>
            </a:r>
            <a:r>
              <a:rPr lang="en-US" b="1" dirty="0" smtClean="0"/>
              <a:t>cube</a:t>
            </a:r>
            <a:r>
              <a:rPr lang="en-US" dirty="0" smtClean="0"/>
              <a:t>(</a:t>
            </a:r>
            <a:r>
              <a:rPr lang="en-US" i="1" dirty="0" err="1" smtClean="0"/>
              <a:t>item_name</a:t>
            </a:r>
            <a:r>
              <a:rPr lang="en-US" dirty="0"/>
              <a:t>, </a:t>
            </a:r>
            <a:r>
              <a:rPr lang="en-US" i="1" dirty="0"/>
              <a:t>color</a:t>
            </a:r>
            <a:r>
              <a:rPr lang="en-US" dirty="0"/>
              <a:t>);</a:t>
            </a:r>
            <a:endParaRPr lang="en-US" altLang="en-US" dirty="0" smtClean="0"/>
          </a:p>
          <a:p>
            <a:pPr>
              <a:lnSpc>
                <a:spcPct val="90000"/>
              </a:lnSpc>
            </a:pPr>
            <a:r>
              <a:rPr lang="en-US" altLang="en-US" dirty="0" smtClean="0"/>
              <a:t>Can </a:t>
            </a:r>
            <a:r>
              <a:rPr lang="en-US" altLang="en-US" dirty="0"/>
              <a:t>use the function </a:t>
            </a:r>
            <a:r>
              <a:rPr lang="en-US" altLang="en-US" b="1" dirty="0"/>
              <a:t>decode()</a:t>
            </a:r>
            <a:r>
              <a:rPr lang="en-US" altLang="en-US" dirty="0"/>
              <a:t> in the </a:t>
            </a:r>
            <a:r>
              <a:rPr lang="en-US" altLang="en-US" b="1" dirty="0"/>
              <a:t>select</a:t>
            </a:r>
            <a:r>
              <a:rPr lang="en-US" altLang="en-US" dirty="0"/>
              <a:t> clause to replace such nulls by </a:t>
            </a:r>
            <a:br>
              <a:rPr lang="en-US" altLang="en-US" dirty="0"/>
            </a:br>
            <a:r>
              <a:rPr lang="en-US" altLang="en-US" dirty="0"/>
              <a:t>a value such as </a:t>
            </a:r>
            <a:r>
              <a:rPr lang="en-US" altLang="en-US" b="1" dirty="0"/>
              <a:t>all</a:t>
            </a:r>
          </a:p>
          <a:p>
            <a:pPr lvl="1">
              <a:lnSpc>
                <a:spcPct val="110000"/>
              </a:lnSpc>
            </a:pPr>
            <a:r>
              <a:rPr lang="en-US" altLang="en-US" dirty="0"/>
              <a:t>E.g., replace </a:t>
            </a:r>
            <a:r>
              <a:rPr lang="en-US" altLang="en-US" i="1" dirty="0" err="1"/>
              <a:t>item_name</a:t>
            </a:r>
            <a:r>
              <a:rPr lang="en-US" altLang="en-US" i="1" dirty="0"/>
              <a:t> </a:t>
            </a:r>
            <a:r>
              <a:rPr lang="en-US" altLang="en-US" dirty="0"/>
              <a:t> in first query by </a:t>
            </a:r>
            <a:br>
              <a:rPr lang="en-US" altLang="en-US" dirty="0"/>
            </a:br>
            <a:r>
              <a:rPr lang="en-US" altLang="en-US" dirty="0"/>
              <a:t>   </a:t>
            </a:r>
            <a:r>
              <a:rPr lang="en-US" altLang="en-US" b="1" dirty="0"/>
              <a:t>decode</a:t>
            </a:r>
            <a:r>
              <a:rPr lang="en-US" altLang="en-US" dirty="0"/>
              <a:t>( </a:t>
            </a:r>
            <a:r>
              <a:rPr lang="en-US" altLang="en-US" b="1" dirty="0"/>
              <a:t>grouping</a:t>
            </a:r>
            <a:r>
              <a:rPr lang="en-US" altLang="en-US" dirty="0"/>
              <a:t>(</a:t>
            </a:r>
            <a:r>
              <a:rPr lang="en-US" altLang="en-US" dirty="0" err="1"/>
              <a:t>item</a:t>
            </a:r>
            <a:r>
              <a:rPr lang="en-US" altLang="en-US" i="1" dirty="0" err="1"/>
              <a:t>_name</a:t>
            </a:r>
            <a:r>
              <a:rPr lang="en-US" altLang="en-US" dirty="0"/>
              <a:t>), 1, </a:t>
            </a:r>
            <a:r>
              <a:rPr lang="ja-JP" altLang="en-US" dirty="0"/>
              <a:t>‘</a:t>
            </a:r>
            <a:r>
              <a:rPr lang="en-US" altLang="ja-JP" dirty="0"/>
              <a:t>all</a:t>
            </a:r>
            <a:r>
              <a:rPr lang="ja-JP" altLang="en-US" dirty="0"/>
              <a:t>’</a:t>
            </a:r>
            <a:r>
              <a:rPr lang="en-US" altLang="ja-JP" dirty="0"/>
              <a:t>, </a:t>
            </a:r>
            <a:r>
              <a:rPr lang="en-US" altLang="ja-JP" i="1" dirty="0" err="1"/>
              <a:t>item_name</a:t>
            </a:r>
            <a:r>
              <a:rPr lang="en-US" altLang="ja-JP" dirty="0"/>
              <a:t>)</a:t>
            </a:r>
            <a:endParaRPr lang="en-US" altLang="ja-JP" b="1" dirty="0"/>
          </a:p>
          <a:p>
            <a:pPr>
              <a:lnSpc>
                <a:spcPct val="90000"/>
              </a:lnSpc>
            </a:pPr>
            <a:endParaRPr lang="en-US"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Extended Aggregation (Cont.)</a:t>
            </a:r>
          </a:p>
        </p:txBody>
      </p:sp>
      <p:sp>
        <p:nvSpPr>
          <p:cNvPr id="75778" name="Rectangle 3"/>
          <p:cNvSpPr>
            <a:spLocks noGrp="1" noChangeArrowheads="1"/>
          </p:cNvSpPr>
          <p:nvPr>
            <p:ph idx="1"/>
          </p:nvPr>
        </p:nvSpPr>
        <p:spPr>
          <a:xfrm>
            <a:off x="692459" y="1129131"/>
            <a:ext cx="7845277" cy="5367972"/>
          </a:xfrm>
        </p:spPr>
        <p:txBody>
          <a:bodyPr/>
          <a:lstStyle/>
          <a:p>
            <a:pPr>
              <a:lnSpc>
                <a:spcPct val="90000"/>
              </a:lnSpc>
            </a:pPr>
            <a:r>
              <a:rPr lang="en-US" dirty="0" smtClean="0"/>
              <a:t>The </a:t>
            </a:r>
            <a:r>
              <a:rPr lang="en-US" b="1" dirty="0"/>
              <a:t>rollup </a:t>
            </a:r>
            <a:r>
              <a:rPr lang="en-US" dirty="0"/>
              <a:t>construct is the same as the </a:t>
            </a:r>
            <a:r>
              <a:rPr lang="en-US" b="1" dirty="0"/>
              <a:t>cube </a:t>
            </a:r>
            <a:r>
              <a:rPr lang="en-US" dirty="0"/>
              <a:t>construct except that </a:t>
            </a:r>
            <a:r>
              <a:rPr lang="en-US" b="1" dirty="0"/>
              <a:t>rollup </a:t>
            </a:r>
            <a:r>
              <a:rPr lang="en-US" dirty="0"/>
              <a:t>generates fewer </a:t>
            </a:r>
            <a:r>
              <a:rPr lang="en-US" b="1" dirty="0"/>
              <a:t>group by </a:t>
            </a:r>
            <a:r>
              <a:rPr lang="en-US" dirty="0"/>
              <a:t>queries.  The </a:t>
            </a:r>
            <a:r>
              <a:rPr lang="en-US" b="1" dirty="0"/>
              <a:t>rollup</a:t>
            </a:r>
            <a:r>
              <a:rPr lang="en-US" dirty="0"/>
              <a:t> construct generates union on every prefix of specified list of attributes</a:t>
            </a:r>
            <a:r>
              <a:rPr lang="en-US" altLang="en-US" dirty="0" smtClean="0"/>
              <a:t> </a:t>
            </a:r>
            <a:endParaRPr lang="en-US" altLang="en-US" dirty="0"/>
          </a:p>
          <a:p>
            <a:pPr>
              <a:lnSpc>
                <a:spcPct val="90000"/>
              </a:lnSpc>
            </a:pPr>
            <a:r>
              <a:rPr lang="en-US" altLang="en-US" dirty="0" smtClean="0"/>
              <a:t>E.g.</a:t>
            </a:r>
            <a:r>
              <a:rPr lang="en-US" altLang="en-US" dirty="0"/>
              <a:t>	</a:t>
            </a:r>
            <a:endParaRPr lang="en-US" altLang="en-US" dirty="0" smtClean="0"/>
          </a:p>
          <a:p>
            <a:pPr marL="457200" lvl="1" indent="0">
              <a:lnSpc>
                <a:spcPct val="90000"/>
              </a:lnSpc>
              <a:buNone/>
            </a:pPr>
            <a:r>
              <a:rPr lang="en-US" altLang="en-US" b="1" dirty="0"/>
              <a:t> </a:t>
            </a:r>
            <a:r>
              <a:rPr lang="en-US" altLang="en-US" b="1" dirty="0" smtClean="0"/>
              <a:t>       select </a:t>
            </a:r>
            <a:r>
              <a:rPr lang="en-US" altLang="en-US" i="1" dirty="0" err="1"/>
              <a:t>item_name</a:t>
            </a:r>
            <a:r>
              <a:rPr lang="en-US" altLang="en-US" dirty="0"/>
              <a:t>, </a:t>
            </a:r>
            <a:r>
              <a:rPr lang="en-US" altLang="en-US" i="1" dirty="0"/>
              <a:t>color</a:t>
            </a:r>
            <a:r>
              <a:rPr lang="en-US" altLang="en-US" dirty="0"/>
              <a:t>, </a:t>
            </a:r>
            <a:r>
              <a:rPr lang="en-US" altLang="en-US" i="1" dirty="0"/>
              <a:t>size</a:t>
            </a:r>
            <a:r>
              <a:rPr lang="en-US" altLang="en-US" dirty="0"/>
              <a:t>, </a:t>
            </a:r>
            <a:r>
              <a:rPr lang="en-US" altLang="en-US" b="1" dirty="0"/>
              <a:t>sum</a:t>
            </a:r>
            <a:r>
              <a:rPr lang="en-US" altLang="en-US" dirty="0"/>
              <a:t>(</a:t>
            </a:r>
            <a:r>
              <a:rPr lang="en-US" altLang="en-US" i="1" dirty="0"/>
              <a:t>number</a:t>
            </a:r>
            <a:r>
              <a:rPr lang="en-US" altLang="en-US" dirty="0"/>
              <a:t>)</a:t>
            </a:r>
            <a:br>
              <a:rPr lang="en-US" altLang="en-US" dirty="0"/>
            </a:br>
            <a:r>
              <a:rPr lang="en-US" altLang="en-US" dirty="0"/>
              <a:t>	</a:t>
            </a:r>
            <a:r>
              <a:rPr lang="en-US" altLang="en-US" b="1" dirty="0"/>
              <a:t>from </a:t>
            </a:r>
            <a:r>
              <a:rPr lang="en-US" altLang="en-US" i="1" dirty="0"/>
              <a:t>sales</a:t>
            </a:r>
            <a:br>
              <a:rPr lang="en-US" altLang="en-US" i="1" dirty="0"/>
            </a:br>
            <a:r>
              <a:rPr lang="en-US" altLang="en-US" i="1" dirty="0"/>
              <a:t>	</a:t>
            </a:r>
            <a:r>
              <a:rPr lang="en-US" altLang="en-US" b="1" dirty="0"/>
              <a:t>group by rollup</a:t>
            </a:r>
            <a:r>
              <a:rPr lang="en-US" altLang="en-US" dirty="0"/>
              <a:t>(</a:t>
            </a:r>
            <a:r>
              <a:rPr lang="en-US" altLang="en-US" i="1" dirty="0" err="1"/>
              <a:t>item_name</a:t>
            </a:r>
            <a:r>
              <a:rPr lang="en-US" altLang="en-US" i="1" dirty="0"/>
              <a:t>, color, size</a:t>
            </a:r>
            <a:r>
              <a:rPr lang="en-US" altLang="en-US" dirty="0"/>
              <a:t>)</a:t>
            </a:r>
          </a:p>
          <a:p>
            <a:pPr lvl="1">
              <a:lnSpc>
                <a:spcPct val="90000"/>
              </a:lnSpc>
              <a:buFont typeface="Monotype Sorts" charset="2"/>
              <a:buNone/>
            </a:pPr>
            <a:r>
              <a:rPr lang="en-US" altLang="en-US" dirty="0"/>
              <a:t>Generates union of four groupings:</a:t>
            </a:r>
          </a:p>
          <a:p>
            <a:pPr>
              <a:lnSpc>
                <a:spcPct val="90000"/>
              </a:lnSpc>
              <a:buFont typeface="Monotype Sorts" charset="2"/>
              <a:buNone/>
            </a:pPr>
            <a:r>
              <a:rPr lang="en-US" altLang="en-US" dirty="0"/>
              <a:t>	       { (</a:t>
            </a:r>
            <a:r>
              <a:rPr lang="en-US" altLang="en-US" i="1" dirty="0" err="1"/>
              <a:t>item_name</a:t>
            </a:r>
            <a:r>
              <a:rPr lang="en-US" altLang="en-US" i="1" dirty="0"/>
              <a:t>, color, size</a:t>
            </a:r>
            <a:r>
              <a:rPr lang="en-US" altLang="en-US" dirty="0"/>
              <a:t>), (</a:t>
            </a:r>
            <a:r>
              <a:rPr lang="en-US" altLang="en-US" i="1" dirty="0" err="1"/>
              <a:t>item_name</a:t>
            </a:r>
            <a:r>
              <a:rPr lang="en-US" altLang="en-US" i="1" dirty="0"/>
              <a:t>, color</a:t>
            </a:r>
            <a:r>
              <a:rPr lang="en-US" altLang="en-US" dirty="0"/>
              <a:t>), (</a:t>
            </a:r>
            <a:r>
              <a:rPr lang="en-US" altLang="en-US" i="1" dirty="0" err="1"/>
              <a:t>item_name</a:t>
            </a:r>
            <a:r>
              <a:rPr lang="en-US" altLang="en-US" dirty="0"/>
              <a:t>), ( ) }</a:t>
            </a:r>
          </a:p>
          <a:p>
            <a:pPr>
              <a:lnSpc>
                <a:spcPct val="90000"/>
              </a:lnSpc>
            </a:pPr>
            <a:r>
              <a:rPr lang="en-US" altLang="en-US" dirty="0"/>
              <a:t>Rollup can be used to generate aggregates at multiple levels of a</a:t>
            </a:r>
            <a:br>
              <a:rPr lang="en-US" altLang="en-US" dirty="0"/>
            </a:br>
            <a:r>
              <a:rPr lang="en-US" altLang="en-US" dirty="0"/>
              <a:t>hierarchy.</a:t>
            </a:r>
          </a:p>
          <a:p>
            <a:pPr>
              <a:lnSpc>
                <a:spcPct val="90000"/>
              </a:lnSpc>
            </a:pPr>
            <a:r>
              <a:rPr lang="en-US" altLang="en-US" dirty="0"/>
              <a:t>E.g., suppose table </a:t>
            </a:r>
            <a:r>
              <a:rPr lang="en-US" altLang="en-US" i="1" dirty="0" err="1"/>
              <a:t>itemcategory</a:t>
            </a:r>
            <a:r>
              <a:rPr lang="en-US" altLang="en-US" dirty="0"/>
              <a:t>(</a:t>
            </a:r>
            <a:r>
              <a:rPr lang="en-US" altLang="en-US" i="1" dirty="0" err="1"/>
              <a:t>item_name</a:t>
            </a:r>
            <a:r>
              <a:rPr lang="en-US" altLang="en-US" i="1" dirty="0"/>
              <a:t>, category</a:t>
            </a:r>
            <a:r>
              <a:rPr lang="en-US" altLang="en-US" dirty="0"/>
              <a:t>) gives the category of each item. Then  </a:t>
            </a:r>
          </a:p>
          <a:p>
            <a:pPr>
              <a:lnSpc>
                <a:spcPct val="90000"/>
              </a:lnSpc>
              <a:buFont typeface="Monotype Sorts" charset="2"/>
              <a:buNone/>
            </a:pPr>
            <a:r>
              <a:rPr lang="en-US" altLang="en-US" dirty="0"/>
              <a:t>	           </a:t>
            </a:r>
            <a:r>
              <a:rPr lang="en-US" altLang="en-US" b="1" dirty="0"/>
              <a:t>select </a:t>
            </a:r>
            <a:r>
              <a:rPr lang="en-US" altLang="en-US" i="1" dirty="0"/>
              <a:t>category, </a:t>
            </a:r>
            <a:r>
              <a:rPr lang="en-US" altLang="en-US" i="1" dirty="0" err="1"/>
              <a:t>item_name</a:t>
            </a:r>
            <a:r>
              <a:rPr lang="en-US" altLang="en-US" dirty="0"/>
              <a:t>, </a:t>
            </a:r>
            <a:r>
              <a:rPr lang="en-US" altLang="en-US" b="1" dirty="0"/>
              <a:t>sum</a:t>
            </a:r>
            <a:r>
              <a:rPr lang="en-US" altLang="en-US" dirty="0"/>
              <a:t>(</a:t>
            </a:r>
            <a:r>
              <a:rPr lang="en-US" altLang="en-US" i="1" dirty="0"/>
              <a:t>number</a:t>
            </a:r>
            <a:r>
              <a:rPr lang="en-US" altLang="en-US" dirty="0"/>
              <a:t>)</a:t>
            </a:r>
            <a:br>
              <a:rPr lang="en-US" altLang="en-US" dirty="0"/>
            </a:br>
            <a:r>
              <a:rPr lang="en-US" altLang="en-US" dirty="0"/>
              <a:t>           </a:t>
            </a:r>
            <a:r>
              <a:rPr lang="en-US" altLang="en-US" b="1" dirty="0"/>
              <a:t>from </a:t>
            </a:r>
            <a:r>
              <a:rPr lang="en-US" altLang="en-US" i="1" dirty="0"/>
              <a:t>sales, </a:t>
            </a:r>
            <a:r>
              <a:rPr lang="en-US" altLang="en-US" i="1" dirty="0" err="1"/>
              <a:t>itemcategory</a:t>
            </a:r>
            <a:r>
              <a:rPr lang="en-US" altLang="en-US" dirty="0"/>
              <a:t/>
            </a:r>
            <a:br>
              <a:rPr lang="en-US" altLang="en-US" dirty="0"/>
            </a:br>
            <a:r>
              <a:rPr lang="en-US" altLang="en-US" dirty="0"/>
              <a:t>           </a:t>
            </a:r>
            <a:r>
              <a:rPr lang="en-US" altLang="en-US" b="1" dirty="0"/>
              <a:t>where </a:t>
            </a:r>
            <a:r>
              <a:rPr lang="en-US" altLang="en-US" i="1" dirty="0" err="1"/>
              <a:t>sales.item_name</a:t>
            </a:r>
            <a:r>
              <a:rPr lang="en-US" altLang="en-US" i="1" dirty="0"/>
              <a:t> = </a:t>
            </a:r>
            <a:r>
              <a:rPr lang="en-US" altLang="en-US" i="1" dirty="0" err="1"/>
              <a:t>itemcategory.item_name</a:t>
            </a:r>
            <a:r>
              <a:rPr lang="en-US" altLang="en-US" dirty="0"/>
              <a:t/>
            </a:r>
            <a:br>
              <a:rPr lang="en-US" altLang="en-US" dirty="0"/>
            </a:br>
            <a:r>
              <a:rPr lang="en-US" altLang="en-US" dirty="0"/>
              <a:t>           </a:t>
            </a:r>
            <a:r>
              <a:rPr lang="en-US" altLang="en-US" b="1" dirty="0"/>
              <a:t>group by rollup</a:t>
            </a:r>
            <a:r>
              <a:rPr lang="en-US" altLang="en-US" dirty="0"/>
              <a:t>(</a:t>
            </a:r>
            <a:r>
              <a:rPr lang="en-US" altLang="en-US" i="1" dirty="0"/>
              <a:t>category, </a:t>
            </a:r>
            <a:r>
              <a:rPr lang="en-US" altLang="en-US" i="1" dirty="0" err="1"/>
              <a:t>item_name</a:t>
            </a:r>
            <a:r>
              <a:rPr lang="en-US" altLang="en-US" dirty="0"/>
              <a:t>)</a:t>
            </a:r>
          </a:p>
          <a:p>
            <a:pPr>
              <a:lnSpc>
                <a:spcPct val="90000"/>
              </a:lnSpc>
              <a:buFont typeface="Monotype Sorts" charset="2"/>
              <a:buNone/>
            </a:pPr>
            <a:r>
              <a:rPr lang="en-US" altLang="en-US" dirty="0"/>
              <a:t>	would give a hierarchical summary by </a:t>
            </a:r>
            <a:r>
              <a:rPr lang="en-US" altLang="en-US" i="1" dirty="0" err="1"/>
              <a:t>item_name</a:t>
            </a:r>
            <a:r>
              <a:rPr lang="en-US" altLang="en-US" i="1" dirty="0"/>
              <a:t> </a:t>
            </a:r>
            <a:r>
              <a:rPr lang="en-US" altLang="en-US" dirty="0"/>
              <a:t>and by </a:t>
            </a:r>
            <a:r>
              <a:rPr lang="en-US" altLang="en-US" i="1" dirty="0"/>
              <a:t>category.</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Extended Aggregation (Cont.)</a:t>
            </a:r>
          </a:p>
        </p:txBody>
      </p:sp>
      <p:sp>
        <p:nvSpPr>
          <p:cNvPr id="76802" name="Rectangle 3"/>
          <p:cNvSpPr>
            <a:spLocks noGrp="1" noChangeArrowheads="1"/>
          </p:cNvSpPr>
          <p:nvPr>
            <p:ph idx="1"/>
          </p:nvPr>
        </p:nvSpPr>
        <p:spPr>
          <a:xfrm>
            <a:off x="694678" y="1102497"/>
            <a:ext cx="7843058" cy="5367972"/>
          </a:xfrm>
        </p:spPr>
        <p:txBody>
          <a:bodyPr/>
          <a:lstStyle/>
          <a:p>
            <a:r>
              <a:rPr lang="en-US" altLang="en-US" dirty="0"/>
              <a:t>Multiple rollups and cubes can be used in a single group by clause</a:t>
            </a:r>
          </a:p>
          <a:p>
            <a:pPr lvl="1"/>
            <a:r>
              <a:rPr lang="en-US" altLang="en-US" dirty="0"/>
              <a:t>Each generates set of group by lists, cross product of sets gives overall set of group by lists</a:t>
            </a:r>
          </a:p>
          <a:p>
            <a:r>
              <a:rPr lang="en-US" altLang="en-US" dirty="0"/>
              <a:t>E.g., </a:t>
            </a:r>
          </a:p>
          <a:p>
            <a:pPr>
              <a:buFont typeface="Monotype Sorts" charset="2"/>
              <a:buNone/>
            </a:pPr>
            <a:r>
              <a:rPr lang="en-US" altLang="en-US" dirty="0"/>
              <a:t>	        </a:t>
            </a:r>
            <a:r>
              <a:rPr lang="en-US" altLang="en-US" b="1" dirty="0"/>
              <a:t>select </a:t>
            </a:r>
            <a:r>
              <a:rPr lang="en-US" altLang="en-US" i="1" dirty="0" err="1"/>
              <a:t>item_name</a:t>
            </a:r>
            <a:r>
              <a:rPr lang="en-US" altLang="en-US" i="1" dirty="0"/>
              <a:t>, color, size</a:t>
            </a:r>
            <a:r>
              <a:rPr lang="en-US" altLang="en-US" dirty="0"/>
              <a:t>, </a:t>
            </a:r>
            <a:r>
              <a:rPr lang="en-US" altLang="en-US" b="1" dirty="0"/>
              <a:t>sum</a:t>
            </a:r>
            <a:r>
              <a:rPr lang="en-US" altLang="en-US" dirty="0"/>
              <a:t>(</a:t>
            </a:r>
            <a:r>
              <a:rPr lang="en-US" altLang="en-US" i="1" dirty="0"/>
              <a:t>number</a:t>
            </a:r>
            <a:r>
              <a:rPr lang="en-US" altLang="en-US" dirty="0"/>
              <a:t>)</a:t>
            </a:r>
            <a:br>
              <a:rPr lang="en-US" altLang="en-US" dirty="0"/>
            </a:br>
            <a:r>
              <a:rPr lang="en-US" altLang="en-US" dirty="0"/>
              <a:t>        </a:t>
            </a:r>
            <a:r>
              <a:rPr lang="en-US" altLang="en-US" b="1" dirty="0"/>
              <a:t>from </a:t>
            </a:r>
            <a:r>
              <a:rPr lang="en-US" altLang="en-US" i="1" dirty="0"/>
              <a:t>sales</a:t>
            </a:r>
            <a:r>
              <a:rPr lang="en-US" altLang="en-US" dirty="0"/>
              <a:t/>
            </a:r>
            <a:br>
              <a:rPr lang="en-US" altLang="en-US" dirty="0"/>
            </a:br>
            <a:r>
              <a:rPr lang="en-US" altLang="en-US" dirty="0"/>
              <a:t>        </a:t>
            </a:r>
            <a:r>
              <a:rPr lang="en-US" altLang="en-US" b="1" dirty="0"/>
              <a:t>group by rollup</a:t>
            </a:r>
            <a:r>
              <a:rPr lang="en-US" altLang="en-US" dirty="0"/>
              <a:t>(</a:t>
            </a:r>
            <a:r>
              <a:rPr lang="en-US" altLang="en-US" i="1" dirty="0" err="1"/>
              <a:t>item_name</a:t>
            </a:r>
            <a:r>
              <a:rPr lang="en-US" altLang="en-US" dirty="0"/>
              <a:t>), </a:t>
            </a:r>
            <a:r>
              <a:rPr lang="en-US" altLang="en-US" b="1" dirty="0"/>
              <a:t>rollup</a:t>
            </a:r>
            <a:r>
              <a:rPr lang="en-US" altLang="en-US" dirty="0"/>
              <a:t>(</a:t>
            </a:r>
            <a:r>
              <a:rPr lang="en-US" altLang="en-US" i="1" dirty="0"/>
              <a:t>color, size</a:t>
            </a:r>
            <a:r>
              <a:rPr lang="en-US" altLang="en-US" dirty="0"/>
              <a:t>)</a:t>
            </a:r>
          </a:p>
          <a:p>
            <a:pPr>
              <a:buFont typeface="Monotype Sorts" charset="2"/>
              <a:buNone/>
            </a:pPr>
            <a:r>
              <a:rPr lang="en-US" altLang="en-US" dirty="0"/>
              <a:t>     generates the groupings </a:t>
            </a:r>
          </a:p>
          <a:p>
            <a:pPr>
              <a:buFont typeface="Monotype Sorts" charset="2"/>
              <a:buNone/>
            </a:pPr>
            <a:r>
              <a:rPr lang="en-US" altLang="en-US" dirty="0"/>
              <a:t>        {</a:t>
            </a:r>
            <a:r>
              <a:rPr lang="en-US" altLang="en-US" i="1" dirty="0" err="1"/>
              <a:t>item_name</a:t>
            </a:r>
            <a:r>
              <a:rPr lang="en-US" altLang="en-US" i="1" dirty="0"/>
              <a:t>, ()} X {(color, size), (color), ()} </a:t>
            </a:r>
            <a:endParaRPr lang="en-US" altLang="en-US" dirty="0"/>
          </a:p>
          <a:p>
            <a:pPr>
              <a:buFont typeface="Monotype Sorts" charset="2"/>
              <a:buNone/>
            </a:pPr>
            <a:r>
              <a:rPr lang="en-US" altLang="en-US" dirty="0"/>
              <a:t>	        = { (</a:t>
            </a:r>
            <a:r>
              <a:rPr lang="en-US" altLang="en-US" i="1" dirty="0" err="1"/>
              <a:t>item_name</a:t>
            </a:r>
            <a:r>
              <a:rPr lang="en-US" altLang="en-US" i="1" dirty="0"/>
              <a:t>, color, size</a:t>
            </a:r>
            <a:r>
              <a:rPr lang="en-US" altLang="en-US" dirty="0"/>
              <a:t>), (</a:t>
            </a:r>
            <a:r>
              <a:rPr lang="en-US" altLang="en-US" i="1" dirty="0" err="1"/>
              <a:t>item_name</a:t>
            </a:r>
            <a:r>
              <a:rPr lang="en-US" altLang="en-US" i="1" dirty="0"/>
              <a:t>, color</a:t>
            </a:r>
            <a:r>
              <a:rPr lang="en-US" altLang="en-US" dirty="0"/>
              <a:t>), (</a:t>
            </a:r>
            <a:r>
              <a:rPr lang="en-US" altLang="en-US" i="1" dirty="0" err="1"/>
              <a:t>item_name</a:t>
            </a:r>
            <a:r>
              <a:rPr lang="en-US" altLang="en-US" dirty="0"/>
              <a:t>), </a:t>
            </a:r>
            <a:br>
              <a:rPr lang="en-US" altLang="en-US" dirty="0"/>
            </a:br>
            <a:r>
              <a:rPr lang="en-US" altLang="en-US" dirty="0"/>
              <a:t>             (</a:t>
            </a:r>
            <a:r>
              <a:rPr lang="en-US" altLang="en-US" i="1" dirty="0"/>
              <a:t>color, size</a:t>
            </a:r>
            <a:r>
              <a:rPr lang="en-US" altLang="en-US" dirty="0"/>
              <a:t>), (</a:t>
            </a:r>
            <a:r>
              <a:rPr lang="en-US" altLang="en-US" i="1" dirty="0"/>
              <a:t>color</a:t>
            </a:r>
            <a:r>
              <a:rPr lang="en-US" altLang="en-US" dirty="0"/>
              <a:t>), ( ) </a:t>
            </a:r>
            <a:r>
              <a:rPr lang="en-US" altLang="en-US" dirty="0" smtClean="0"/>
              <a:t>}</a:t>
            </a:r>
            <a:endParaRPr lang="en-US"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Extended Aggregation (Cont.)</a:t>
            </a:r>
          </a:p>
        </p:txBody>
      </p:sp>
      <p:sp>
        <p:nvSpPr>
          <p:cNvPr id="76802" name="Rectangle 3"/>
          <p:cNvSpPr>
            <a:spLocks noGrp="1" noChangeArrowheads="1"/>
          </p:cNvSpPr>
          <p:nvPr>
            <p:ph idx="1"/>
          </p:nvPr>
        </p:nvSpPr>
        <p:spPr>
          <a:xfrm>
            <a:off x="694678" y="1102497"/>
            <a:ext cx="7843058" cy="5367972"/>
          </a:xfrm>
        </p:spPr>
        <p:txBody>
          <a:bodyPr/>
          <a:lstStyle/>
          <a:p>
            <a:r>
              <a:rPr lang="en-US" dirty="0"/>
              <a:t>Neither the </a:t>
            </a:r>
            <a:r>
              <a:rPr lang="en-US" b="1" dirty="0"/>
              <a:t>rollup </a:t>
            </a:r>
            <a:r>
              <a:rPr lang="en-US" dirty="0"/>
              <a:t>nor the </a:t>
            </a:r>
            <a:r>
              <a:rPr lang="en-US" b="1" dirty="0"/>
              <a:t>cube </a:t>
            </a:r>
            <a:r>
              <a:rPr lang="en-US" dirty="0"/>
              <a:t>clause gives complete control on the groupings that are generated. </a:t>
            </a:r>
          </a:p>
          <a:p>
            <a:r>
              <a:rPr lang="en-US" dirty="0"/>
              <a:t>For instance, we cannot use them to specify that we want only</a:t>
            </a:r>
            <a:br>
              <a:rPr lang="en-US" dirty="0"/>
            </a:br>
            <a:r>
              <a:rPr lang="en-US" dirty="0"/>
              <a:t>groupings {(</a:t>
            </a:r>
            <a:r>
              <a:rPr lang="en-US" i="1" dirty="0"/>
              <a:t>color</a:t>
            </a:r>
            <a:r>
              <a:rPr lang="en-US" dirty="0"/>
              <a:t>, </a:t>
            </a:r>
            <a:r>
              <a:rPr lang="en-US" i="1" dirty="0" err="1"/>
              <a:t>clothes_size</a:t>
            </a:r>
            <a:r>
              <a:rPr lang="en-US" dirty="0"/>
              <a:t>), (</a:t>
            </a:r>
            <a:r>
              <a:rPr lang="en-US" i="1" dirty="0" err="1"/>
              <a:t>clothes_size</a:t>
            </a:r>
            <a:r>
              <a:rPr lang="en-US" dirty="0"/>
              <a:t>, </a:t>
            </a:r>
            <a:r>
              <a:rPr lang="en-US" i="1" dirty="0"/>
              <a:t>item name</a:t>
            </a:r>
            <a:r>
              <a:rPr lang="en-US" dirty="0"/>
              <a:t>)}. Such restricted groupings can be generated by using the </a:t>
            </a:r>
            <a:r>
              <a:rPr lang="en-US" b="1" dirty="0"/>
              <a:t>grouping sets </a:t>
            </a:r>
            <a:r>
              <a:rPr lang="en-US" dirty="0"/>
              <a:t>construct, in which one can specify the specific list of groupings to be used. </a:t>
            </a:r>
          </a:p>
          <a:p>
            <a:r>
              <a:rPr lang="en-US" dirty="0"/>
              <a:t>To obtain only groupings {(</a:t>
            </a:r>
            <a:r>
              <a:rPr lang="en-US" i="1" dirty="0"/>
              <a:t>color</a:t>
            </a:r>
            <a:r>
              <a:rPr lang="en-US" dirty="0"/>
              <a:t>, </a:t>
            </a:r>
            <a:r>
              <a:rPr lang="en-US" i="1" dirty="0" err="1"/>
              <a:t>clothes_size</a:t>
            </a:r>
            <a:r>
              <a:rPr lang="en-US" dirty="0"/>
              <a:t>), (</a:t>
            </a:r>
            <a:r>
              <a:rPr lang="en-US" i="1" dirty="0" err="1"/>
              <a:t>clothes_size</a:t>
            </a:r>
            <a:r>
              <a:rPr lang="en-US" dirty="0"/>
              <a:t>,</a:t>
            </a:r>
            <a:br>
              <a:rPr lang="en-US" dirty="0"/>
            </a:br>
            <a:r>
              <a:rPr lang="en-US" i="1" dirty="0" err="1"/>
              <a:t>item_name</a:t>
            </a:r>
            <a:r>
              <a:rPr lang="en-US" dirty="0"/>
              <a:t>)}, we would write:</a:t>
            </a:r>
            <a:endParaRPr lang="en-US" altLang="en-US" dirty="0"/>
          </a:p>
          <a:p>
            <a:r>
              <a:rPr lang="en-US" b="1" dirty="0"/>
              <a:t>select </a:t>
            </a:r>
            <a:r>
              <a:rPr lang="en-US" i="1" dirty="0" err="1"/>
              <a:t>item_name</a:t>
            </a:r>
            <a:r>
              <a:rPr lang="en-US" dirty="0"/>
              <a:t>, </a:t>
            </a:r>
            <a:r>
              <a:rPr lang="en-US" i="1" dirty="0"/>
              <a:t>color</a:t>
            </a:r>
            <a:r>
              <a:rPr lang="en-US" dirty="0"/>
              <a:t>, </a:t>
            </a:r>
            <a:r>
              <a:rPr lang="en-US" i="1" dirty="0" err="1"/>
              <a:t>clothes_size</a:t>
            </a:r>
            <a:r>
              <a:rPr lang="en-US" dirty="0"/>
              <a:t>, </a:t>
            </a:r>
            <a:r>
              <a:rPr lang="en-US" b="1" dirty="0"/>
              <a:t>sum</a:t>
            </a:r>
            <a:r>
              <a:rPr lang="en-US" dirty="0"/>
              <a:t>(</a:t>
            </a:r>
            <a:r>
              <a:rPr lang="en-US" i="1" dirty="0"/>
              <a:t>quantity</a:t>
            </a:r>
            <a:r>
              <a:rPr lang="en-US" dirty="0"/>
              <a:t>)</a:t>
            </a:r>
            <a:br>
              <a:rPr lang="en-US" dirty="0"/>
            </a:br>
            <a:r>
              <a:rPr lang="en-US" b="1" dirty="0"/>
              <a:t>from </a:t>
            </a:r>
            <a:r>
              <a:rPr lang="en-US" i="1" dirty="0"/>
              <a:t>sales</a:t>
            </a:r>
            <a:br>
              <a:rPr lang="en-US" i="1" dirty="0"/>
            </a:br>
            <a:r>
              <a:rPr lang="en-US" b="1" dirty="0"/>
              <a:t>group by grouping sets </a:t>
            </a:r>
            <a:r>
              <a:rPr lang="en-US" dirty="0"/>
              <a:t>((</a:t>
            </a:r>
            <a:r>
              <a:rPr lang="en-US" i="1" dirty="0"/>
              <a:t>color</a:t>
            </a:r>
            <a:r>
              <a:rPr lang="en-US" dirty="0"/>
              <a:t>, </a:t>
            </a:r>
            <a:r>
              <a:rPr lang="en-US" i="1" dirty="0" err="1"/>
              <a:t>clothes_size</a:t>
            </a:r>
            <a:r>
              <a:rPr lang="en-US" dirty="0"/>
              <a:t>), </a:t>
            </a:r>
            <a:br>
              <a:rPr lang="en-US" dirty="0"/>
            </a:br>
            <a:r>
              <a:rPr lang="en-US" dirty="0"/>
              <a:t>                                           (</a:t>
            </a:r>
            <a:r>
              <a:rPr lang="en-US" i="1" dirty="0" err="1"/>
              <a:t>clothes_size</a:t>
            </a:r>
            <a:r>
              <a:rPr lang="en-US" dirty="0"/>
              <a:t>, </a:t>
            </a:r>
            <a:r>
              <a:rPr lang="en-US" i="1" dirty="0" err="1"/>
              <a:t>item_name</a:t>
            </a:r>
            <a:r>
              <a:rPr lang="en-US" dirty="0"/>
              <a:t>)); </a:t>
            </a:r>
            <a:br>
              <a:rPr lang="en-US" dirty="0"/>
            </a:br>
            <a:endParaRPr lang="en-US" altLang="en-US" dirty="0"/>
          </a:p>
        </p:txBody>
      </p:sp>
    </p:spTree>
    <p:extLst>
      <p:ext uri="{BB962C8B-B14F-4D97-AF65-F5344CB8AC3E}">
        <p14:creationId xmlns:p14="http://schemas.microsoft.com/office/powerpoint/2010/main" val="31682232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r>
              <a:rPr lang="en-US" altLang="en-US">
                <a:effectLst>
                  <a:outerShdw blurRad="38100" dist="38100" dir="2700000" algn="tl">
                    <a:srgbClr val="C0C0C0"/>
                  </a:outerShdw>
                </a:effectLst>
              </a:rPr>
              <a:t>OLAP Implementation (Cont.)</a:t>
            </a:r>
          </a:p>
        </p:txBody>
      </p:sp>
      <p:sp>
        <p:nvSpPr>
          <p:cNvPr id="79874" name="Rectangle 3"/>
          <p:cNvSpPr>
            <a:spLocks noGrp="1" noChangeArrowheads="1"/>
          </p:cNvSpPr>
          <p:nvPr>
            <p:ph idx="1"/>
          </p:nvPr>
        </p:nvSpPr>
        <p:spPr>
          <a:xfrm>
            <a:off x="694678" y="1129130"/>
            <a:ext cx="7843058" cy="5367972"/>
          </a:xfrm>
        </p:spPr>
        <p:txBody>
          <a:bodyPr/>
          <a:lstStyle/>
          <a:p>
            <a:pPr>
              <a:lnSpc>
                <a:spcPct val="90000"/>
              </a:lnSpc>
            </a:pPr>
            <a:r>
              <a:rPr lang="en-US" altLang="en-US" dirty="0"/>
              <a:t>Early OLAP systems precomputed </a:t>
            </a:r>
            <a:r>
              <a:rPr lang="en-US" altLang="en-US" i="1" dirty="0"/>
              <a:t>all</a:t>
            </a:r>
            <a:r>
              <a:rPr lang="en-US" altLang="en-US" dirty="0"/>
              <a:t> possible aggregates in order to provide online response</a:t>
            </a:r>
          </a:p>
          <a:p>
            <a:pPr lvl="1">
              <a:lnSpc>
                <a:spcPct val="90000"/>
              </a:lnSpc>
            </a:pPr>
            <a:r>
              <a:rPr lang="en-US" altLang="en-US" dirty="0"/>
              <a:t>Space and time requirements for doing so can be very high</a:t>
            </a:r>
          </a:p>
          <a:p>
            <a:pPr lvl="2">
              <a:lnSpc>
                <a:spcPct val="90000"/>
              </a:lnSpc>
            </a:pPr>
            <a:r>
              <a:rPr lang="en-US" altLang="en-US" dirty="0"/>
              <a:t>2</a:t>
            </a:r>
            <a:r>
              <a:rPr lang="en-US" altLang="en-US" baseline="30000" dirty="0"/>
              <a:t>n</a:t>
            </a:r>
            <a:r>
              <a:rPr lang="en-US" altLang="en-US" dirty="0"/>
              <a:t> combinations of </a:t>
            </a:r>
            <a:r>
              <a:rPr lang="en-US" altLang="en-US" b="1" dirty="0"/>
              <a:t>group by</a:t>
            </a:r>
          </a:p>
          <a:p>
            <a:pPr lvl="1">
              <a:lnSpc>
                <a:spcPct val="90000"/>
              </a:lnSpc>
            </a:pPr>
            <a:r>
              <a:rPr lang="en-US" altLang="en-US" dirty="0"/>
              <a:t>It suffices to precompute some aggregates, and compute others on demand from one of the precomputed aggregates</a:t>
            </a:r>
          </a:p>
          <a:p>
            <a:pPr lvl="2">
              <a:lnSpc>
                <a:spcPct val="90000"/>
              </a:lnSpc>
            </a:pPr>
            <a:r>
              <a:rPr lang="en-US" altLang="en-US" dirty="0"/>
              <a:t>Can compute aggregate on (</a:t>
            </a:r>
            <a:r>
              <a:rPr lang="en-US" altLang="en-US" i="1" dirty="0" err="1"/>
              <a:t>item_name</a:t>
            </a:r>
            <a:r>
              <a:rPr lang="en-US" altLang="en-US" i="1" dirty="0"/>
              <a:t>, color</a:t>
            </a:r>
            <a:r>
              <a:rPr lang="en-US" altLang="en-US" dirty="0"/>
              <a:t>) from an aggregate on (</a:t>
            </a:r>
            <a:r>
              <a:rPr lang="en-US" altLang="en-US" i="1" dirty="0" err="1"/>
              <a:t>item_name</a:t>
            </a:r>
            <a:r>
              <a:rPr lang="en-US" altLang="en-US" i="1" dirty="0"/>
              <a:t>, color, size</a:t>
            </a:r>
            <a:r>
              <a:rPr lang="en-US" altLang="en-US" dirty="0"/>
              <a:t>) </a:t>
            </a:r>
          </a:p>
          <a:p>
            <a:pPr lvl="3">
              <a:lnSpc>
                <a:spcPct val="90000"/>
              </a:lnSpc>
            </a:pPr>
            <a:r>
              <a:rPr lang="en-US" altLang="en-US" dirty="0"/>
              <a:t>For all but a few </a:t>
            </a:r>
            <a:r>
              <a:rPr lang="ja-JP" altLang="en-US" dirty="0"/>
              <a:t>“</a:t>
            </a:r>
            <a:r>
              <a:rPr lang="en-US" altLang="ja-JP" dirty="0"/>
              <a:t>non-decomposable</a:t>
            </a:r>
            <a:r>
              <a:rPr lang="ja-JP" altLang="en-US" dirty="0"/>
              <a:t>”</a:t>
            </a:r>
            <a:r>
              <a:rPr lang="en-US" altLang="ja-JP" dirty="0"/>
              <a:t> aggregates such as </a:t>
            </a:r>
            <a:r>
              <a:rPr lang="en-US" altLang="ja-JP" i="1" dirty="0"/>
              <a:t>median</a:t>
            </a:r>
            <a:endParaRPr lang="en-US" altLang="ja-JP" dirty="0"/>
          </a:p>
          <a:p>
            <a:pPr lvl="3">
              <a:lnSpc>
                <a:spcPct val="90000"/>
              </a:lnSpc>
            </a:pPr>
            <a:r>
              <a:rPr lang="en-US" altLang="en-US" dirty="0"/>
              <a:t>is cheaper than computing it from scratch </a:t>
            </a:r>
            <a:endParaRPr lang="en-US" altLang="en-US" i="1" dirty="0"/>
          </a:p>
          <a:p>
            <a:pPr>
              <a:lnSpc>
                <a:spcPct val="90000"/>
              </a:lnSpc>
            </a:pPr>
            <a:r>
              <a:rPr lang="en-US" altLang="en-US" dirty="0"/>
              <a:t>Several optimizations available for computing multiple aggregates</a:t>
            </a:r>
          </a:p>
          <a:p>
            <a:pPr lvl="1">
              <a:lnSpc>
                <a:spcPct val="90000"/>
              </a:lnSpc>
            </a:pPr>
            <a:r>
              <a:rPr lang="en-US" altLang="en-US" dirty="0"/>
              <a:t>Can compute aggregate on (</a:t>
            </a:r>
            <a:r>
              <a:rPr lang="en-US" altLang="en-US" i="1" dirty="0" err="1"/>
              <a:t>item_name</a:t>
            </a:r>
            <a:r>
              <a:rPr lang="en-US" altLang="en-US" i="1" dirty="0"/>
              <a:t>, color</a:t>
            </a:r>
            <a:r>
              <a:rPr lang="en-US" altLang="en-US" dirty="0"/>
              <a:t>) from an aggregate on (</a:t>
            </a:r>
            <a:r>
              <a:rPr lang="en-US" altLang="en-US" i="1" dirty="0" err="1"/>
              <a:t>item_name</a:t>
            </a:r>
            <a:r>
              <a:rPr lang="en-US" altLang="en-US" i="1" dirty="0"/>
              <a:t>, color, size</a:t>
            </a:r>
            <a:r>
              <a:rPr lang="en-US" altLang="en-US" dirty="0"/>
              <a:t>)</a:t>
            </a:r>
          </a:p>
          <a:p>
            <a:pPr lvl="1">
              <a:lnSpc>
                <a:spcPct val="90000"/>
              </a:lnSpc>
            </a:pPr>
            <a:r>
              <a:rPr lang="en-US" altLang="en-US" dirty="0"/>
              <a:t>Can compute aggregates on (</a:t>
            </a:r>
            <a:r>
              <a:rPr lang="en-US" altLang="en-US" i="1" dirty="0" err="1"/>
              <a:t>item_name</a:t>
            </a:r>
            <a:r>
              <a:rPr lang="en-US" altLang="en-US" i="1" dirty="0"/>
              <a:t>, color, size</a:t>
            </a:r>
            <a:r>
              <a:rPr lang="en-US" altLang="en-US" dirty="0"/>
              <a:t>), </a:t>
            </a:r>
            <a:br>
              <a:rPr lang="en-US" altLang="en-US" dirty="0"/>
            </a:br>
            <a:r>
              <a:rPr lang="en-US" altLang="en-US" dirty="0"/>
              <a:t>(</a:t>
            </a:r>
            <a:r>
              <a:rPr lang="en-US" altLang="en-US" i="1" dirty="0" err="1"/>
              <a:t>item_name</a:t>
            </a:r>
            <a:r>
              <a:rPr lang="en-US" altLang="en-US" i="1" dirty="0"/>
              <a:t>, color</a:t>
            </a:r>
            <a:r>
              <a:rPr lang="en-US" altLang="en-US" dirty="0"/>
              <a:t>) and (</a:t>
            </a:r>
            <a:r>
              <a:rPr lang="en-US" altLang="en-US" i="1" dirty="0" err="1"/>
              <a:t>item_name</a:t>
            </a:r>
            <a:r>
              <a:rPr lang="en-US" altLang="en-US" dirty="0"/>
              <a:t>) using a single sorting </a:t>
            </a:r>
            <a:br>
              <a:rPr lang="en-US" altLang="en-US" dirty="0"/>
            </a:br>
            <a:r>
              <a:rPr lang="en-US" altLang="en-US" dirty="0"/>
              <a:t>of the base data</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17593</TotalTime>
  <Words>2054</Words>
  <Application>Microsoft Office PowerPoint</Application>
  <PresentationFormat>On-screen Show (4:3)</PresentationFormat>
  <Paragraphs>328</Paragraphs>
  <Slides>29</Slides>
  <Notes>24</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db</vt:lpstr>
      <vt:lpstr>Data Warehousing</vt:lpstr>
      <vt:lpstr>Data Warehousing</vt:lpstr>
      <vt:lpstr>Multidimensional Data and Warehouse Schemas</vt:lpstr>
      <vt:lpstr>Data Warehouse Schema</vt:lpstr>
      <vt:lpstr>Multidimensional Data and Warehouse Schemas</vt:lpstr>
      <vt:lpstr>Conceptual Modeling of Data Warehouses</vt:lpstr>
      <vt:lpstr>Example of Star Schema</vt:lpstr>
      <vt:lpstr>Example of Snowflake Schema</vt:lpstr>
      <vt:lpstr>Example of Fact Constellation</vt:lpstr>
      <vt:lpstr>Data Analysis and OLAP</vt:lpstr>
      <vt:lpstr>Data Analysis and OLAP</vt:lpstr>
      <vt:lpstr>Example sales relation </vt:lpstr>
      <vt:lpstr>Cross Tabulation of sales by item_name and color</vt:lpstr>
      <vt:lpstr>Data Cube</vt:lpstr>
      <vt:lpstr>Data Cube</vt:lpstr>
      <vt:lpstr>Online Analytical Processing Operations</vt:lpstr>
      <vt:lpstr>Online Analytical Processing Operations</vt:lpstr>
      <vt:lpstr>Hierarchies on Dimensions</vt:lpstr>
      <vt:lpstr>Cross Tabulation With Hierarchy</vt:lpstr>
      <vt:lpstr>Relational Representation of Cross-tabs</vt:lpstr>
      <vt:lpstr>Olap in SQL</vt:lpstr>
      <vt:lpstr>Pivot Operation</vt:lpstr>
      <vt:lpstr>Cube Operation</vt:lpstr>
      <vt:lpstr>Online Analytical Processing Operations</vt:lpstr>
      <vt:lpstr>Online Analytical Processing Operations</vt:lpstr>
      <vt:lpstr>Extended Aggregation (Cont.)</vt:lpstr>
      <vt:lpstr>Extended Aggregation (Cont.)</vt:lpstr>
      <vt:lpstr>Extended Aggregation (Cont.)</vt:lpstr>
      <vt:lpstr>OLAP Implementation (Cont.)</vt:lpstr>
    </vt:vector>
  </TitlesOfParts>
  <Company>IIT Bombay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Advanced Querying and Information Retrieval</dc:title>
  <dc:creator>S. Sudarshan</dc:creator>
  <cp:lastModifiedBy>USER</cp:lastModifiedBy>
  <cp:revision>676</cp:revision>
  <cp:lastPrinted>2000-07-13T17:21:22Z</cp:lastPrinted>
  <dcterms:created xsi:type="dcterms:W3CDTF">2000-03-22T16:02:45Z</dcterms:created>
  <dcterms:modified xsi:type="dcterms:W3CDTF">2024-12-23T16:39:20Z</dcterms:modified>
</cp:coreProperties>
</file>